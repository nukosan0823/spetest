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【記入ガイド】
・資料タイトル: 20字以内
・副題: 16字以内
・位置づけ: 誰が何を判断するための資料かを30字前後で
【共通ルール】
・数字は捏造しない。無い箇所は ※要確認 と書く
・強調は1枚に1箇所だけ
・入り切らないときは縮小せず2枚に割る
・出典は全ページ必須
・レーンは実行主体で切る（工程で切らない）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【記入ガイド】
・見出し: 名詞句14字以内
・右の補足: この章が答える問いを20字前後
・4〜5行。超えるなら章立てを見直す
【共通ルール】
・数字は捏造しない。無い箇所は ※要確認 と書く
・強調は1枚に1箇所だけ
・入り切らないときは縮小せず2枚に割る
・出典は全ページ必須
・レーンは実行主体で切る（工程で切らない）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【記入ガイド】
・章タイトルはアジェンダと一字一句そろえる
・要約や結論は書かない（区切りが役割）
【共通ルール】
・数字は捏造しない。無い箇所は ※要確認 と書く
・強調は1枚に1箇所だけ
・入り切らないときは縮小せず2枚に割る
・出典は全ページ必須
・レーンは実行主体で切る（工程で切らない）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【記入ガイド】
・結論: 2〜3行で断定する
・根拠: 3点。見出し12字以内＋右に数値
・依頼枠: 決めてほしいことを1つに絞る
【共通ルール】
・数字は捏造しない。無い箇所は ※要確認 と書く
・強調は1枚に1箇所だけ
・入り切らないときは縮小せず2枚に割る
・出典は全ページ必須
・レーンは実行主体で切る（工程で切らない）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【記入ガイド】
・メッセージ: 一文40字以内
・根拠欄は不要なら削除してよい
・この頁に数値を三つ以上置かない
【共通ルール】
・数字は捏造しない。無い箇所は ※要確認 と書く
・強調は1枚に1箇所だけ
・入り切らないときは縮小せず2枚に割る
・出典は全ページ必須
・レーンは実行主体で切る（工程で切らない）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【記入ガイド】
・数値は一つだけ。単位まで書く
・直下に「何の数字か」を12字以内
・根拠は各見出し12字以内
【共通ルール】
・数字は捏造しない。無い箇所は ※要確認 と書く
・強調は1枚に1箇所だけ
・入り切らないときは縮小せず2枚に割る
・出典は全ページ必須
・レーンは実行主体で切る（工程で切らない）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【記入ガイド】
・カード4枚。数値は単位まで
・ラベル10字以内、補足20字以内
・読み取るべきこと: 3点まで
【共通ルール】
・数字は捏造しない。無い箇所は ※要確認 と書く
・強調は1枚に1箇所だけ
・入り切らないときは縮小せず2枚に割る
・出典は全ページ必須
・レーンは実行主体で切る（工程で切らない）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【記入ガイド】
・左から 観察事実 → 主な原因 → 打ち手
・事例整理に使う場合は 状況 → 実施 → 結果 に差し替える
・各枠3点まで、1点20字以内
・矢印の意味は因果で統一する
【共通ルール】
・数字は捏造しない。無い箇所は ※要確認 と書く
・強調は1枚に1箇所だけ
・入り切らないときは縮小せず2枚に割る
・出典は全ページ必須
・レーンは実行主体で切る（工程で切らない）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【記入ガイド】
・課題: 名詞句15字以内。対策を書かない
・現状: 事実と数字だけ。意見を書かない
・打ち手: 具体アクション＋担当を必ず入れる
・「〜の推進」「〜の強化」で終わる打ち手は不可
・4行まで
【共通ルール】
・数字は捏造しない。無い箇所は ※要確認 と書く
・強調は1枚に1箇所だけ
・入り切らないときは縮小せず2枚に割る
・出典は全ページ必須
・レーンは実行主体で切る（工程で切らない）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【記入ガイド】
・問い→論点→補足の順に固定する
・論点は4点まで
・本文から導く結論を最後に一文で
【共通ルール】
・数字は捏造しない。無い箇所は ※要確認 と書く
・強調は1枚に1箇所だけ
・入り切らないときは縮小せず2枚に割る
・出典は全ページ必須
・レーンは実行主体で切る（工程で切らない）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【記入ガイド】
・左右で粒度と項目数をそろえる
・見出し12字以内、各4点まで
・比較から導く判断基準を結論に書く
【共通ルール】
・数字は捏造しない。無い箇所は ※要確認 と書く
・強調は1枚に1箇所だけ
・入り切らないときは縮小せず2枚に割る
・出典は全ページ必須
・レーンは実行主体で切る（工程で切らない）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【記入ガイド】
・推奨案だけを塗りで強調する
・評価項目は全案そろえる
・推奨案の弱点も必ず載せる
【共通ルール】
・数字は捏造しない。無い箇所は ※要確認 と書く
・強調は1枚に1箇所だけ
・入り切らないときは縮小せず2枚に割る
・出典は全ページ必須
・レーンは実行主体で切る（工程で切らない）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【記入ガイド】
・行=評価軸4〜5、列=候補2〜4
・全候補に同じ軸を同じ基準で当てる
・全軸◎の候補を作らない
・根拠のないセルは ※要確認 と書く
【共通ルール】
・数字は捏造しない。無い箇所は ※要確認 と書く
・強調は1枚に1箇所だけ
・入り切らないときは縮小せず2枚に割る
・出典は全ページ必須
・レーンは実行主体で切る（工程で切らない）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【記入ガイド】
・2軸は互いに独立させる
・軸の高低の意味を先に書く
・落ちた候補も図に残す
・プロット名は9字以内
【共通ルール】
・数字は捏造しない。無い箇所は ※要確認 と書く
・強調は1枚に1箇所だけ
・入り切らないときは縮小せず2枚に割る
・出典は全ページ必須
・レーンは実行主体で切る（工程で切らない）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【記入ガイド】
・利点と懸念は同数そろえる
・懸念には必ず緩和策を書く
・採用条件は測定可能なものにする
【共通ルール】
・数字は捏造しない。無い箇所は ※要確認 と書く
・強調は1枚に1箇所だけ
・入り切らないときは縮小せず2枚に割る
・出典は全ページ必須
・レーンは実行主体で切る（工程で切らない）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【記入ガイド】
・三枠目（現在）は不要なら削除してよい
・同じ項目を同じ順序で並べる
・差分だけを強調する
【共通ルール】
・数字は捏造しない。無い箇所は ※要確認 と書く
・強調は1枚に1箇所だけ
・入り切らないときは縮小せず2枚に割る
・出典は全ページ必須
・レーンは実行主体で切る（工程で切らない）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【記入ガイド】
・並び順を値の大小にそろえる
・示唆は「事実→だから何をすべきか」で書く
・目標対比に使う場合は破線で目標を重ねる
・3D・虹色・二重軸は使わない
【共通ルール】
・数字は捏造しない。無い箇所は ※要確認 と書く
・強調は1枚に1箇所だけ
・入り切らないときは縮小せず2枚に割る
・出典は全ページ必須
・レーンは実行主体で切る（工程で切らない）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【記入ガイド】
・KPIは数値・指標名・目標をセットで
・推移は主張から逆算して期間を選ぶ
・強調は1箇所だけ
【共通ルール】
・数字は捏造しない。無い箇所は ※要確認 と書く
・強調は1枚に1箇所だけ
・入り切らないときは縮小せず2枚に割る
・出典は全ページ必須
・レーンは実行主体で切る（工程で切らない）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【記入ガイド】
・全図で軸と尺度を必ずそろえる
・4〜6面。それ以上は別紙へ
・各図に一行の読み取りを添える
【共通ルール】
・数字は捏造しない。無い箇所は ※要確認 と書く
・強調は1枚に1箇所だけ
・入り切らないときは縮小せず2枚に割る
・出典は全ページ必須
・レーンは実行主体で切る（工程で切らない）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【記入ガイド】
・引用は必要な範囲だけ。改変しない
・出所・日付・文脈を必ず明記
・示唆は引用と視覚的に分ける
【共通ルール】
・数字は捏造しない。無い箇所は ※要確認 と書く
・強調は1枚に1箇所だけ
・入り切らないときは縮小せず2枚に割る
・出典は全ページ必須
・レーンは実行主体で切る（工程で切らない）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【記入ガイド】
・4〜7ステップ。8個超なら抽象度を上げる
・工程名は名詞句6字以内
・矢印の意味は時間で統一する
・下帯でAIと人の分界点、または統制点を示す
【共通ルール】
・数字は捏造しない。無い箇所は ※要確認 と書く
・強調は1枚に1箇所だけ
・入り切らないときは縮小せず2枚に割る
・出典は全ページ必須
・レーンは実行主体で切る（工程で切らない）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【記入ガイド】
・レーンは実行主体で切る。工程で切らない
・1レーンに複数主体を混ぜない
・未活用レーンも残し、空であることを明示する
・受け渡し条件を下に書く
【共通ルール】
・数字は捏造しない。無い箇所は ※要確認 と書く
・強調は1枚に1箇所だけ
・入り切らないときは縮小せず2枚に割る
・出典は全ページ必須
・レーンは実行主体で切る（工程で切らない）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【記入ガイド】
・レーンは実行主体で切る
・マイルストーンは判定可能なイベントにする
・「検討する」「推進する」だけの帯は置かない
・判断期限を破線で明示する
【共通ルール】
・数字は捏造しない。無い箇所は ※要確認 と書く
・強調は1枚に1箇所だけ
・入り切らないときは縮小せず2枚に割る
・出典は全ページ必須
・レーンは実行主体で切る（工程で切らない）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【記入ガイド】
・条件はYes/Noで判定できる形にする
・分岐は3階層まで
・各終端に次の行動を必ず書く
【共通ルール】
・数字は捏造しない。無い箇所は ※要確認 と書く
・強調は1枚に1箇所だけ
・入り切らないときは縮小せず2枚に割る
・出典は全ページ必須
・レーンは実行主体で切る（工程で切らない）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【記入ガイド】
・R=実行、A=説明責任、C=助言、I=報告先
・Aは必ず1つ。複数置かない
・AIの成果物には必ず人のAを置く
・工程はプロセス図と一致させる
【共通ルール】
・数字は捏造しない。無い箇所は ※要確認 と書く
・強調は1枚に1箇所だけ
・入り切らないときは縮小せず2枚に割る
・出典は全ページ必須
・レーンは実行主体で切る（工程で切らない）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【記入ガイド】
・対象と対象外を必ず対で書く
・成功条件は測定可能にする
・「達成したい目的」は一文に絞る
【共通ルール】
・数字は捏造しない。無い箇所は ※要確認 と書く
・強調は1枚に1箇所だけ
・入り切らないときは縮小せず2枚に割る
・出典は全ページ必須
・レーンは実行主体で切る（工程で切らない）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【記入ガイド】
・ボックスは4〜7個。8個超なら2枚に割る
・ボックス内は名詞句のみ。文章を書かない
・塗り矢印=対象範囲、白抜き=連携のみ
・境界・接点・直接参照のルールを結論に書く
【共通ルール】
・数字は捏造しない。無い箇所は ※要確認 と書く
・強調は1枚に1箇所だけ
・入り切らないときは縮小せず2枚に割る
・出典は全ページ必須
・レーンは実行主体で切る（工程で切らない）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【記入ガイド】
・重要度と期限で並べる
・「必要な判断」は誰が何を決めるかまで書く
・本日決めてほしいことを下に明示する
・5件まで。超えるなら別紙へ
【共通ルール】
・数字は捏造しない。無い箇所は ※要確認 と書く
・強調は1枚に1箇所だけ
・入り切らないときは縮小せず2枚に割る
・出典は全ページ必須
・レーンは実行主体で切る（工程で切らない）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【記入ガイド】
・結論はこの資料で合意した内容だけを書く
・行動は 直後／次／確認 の三つに分ける
・各行動に担当と期限を必ず入れる
・新しい論点をここで出さない
【共通ルール】
・数字は捏造しない。無い箇所は ※要確認 と書く
・強調は1枚に1箇所だけ
・入り切らないときは縮小せず2枚に割る
・出典は全ページ必須
・レーンは実行主体で切る（工程で切らない）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【記入ガイド】
・本文の判断を支える詳細だけを置く
・用語定義は本文の初出順に並べる
・参照情報は資料名・日付・版を明記する
・ここに新しい主張を書かない
【共通ルール】
・数字は捏造しない。無い箇所は ※要確認 と書く
・強調は1枚に1箇所だけ
・入り切らないときは縮小せず2枚に割る
・出典は全ページ必須
・レーンは実行主体で切る（工程で切らない）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6928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cover  ｜  base  ｜  表紙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66928" y="210312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[資料タイトル]</a:t>
            </a:r>
            <a:endParaRPr lang="en-US" sz="3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[副題]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6928" y="379476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[目的・対象範囲・資料の位置づけ]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4787900"/>
            <a:ext cx="274320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5029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[作成日]  ｜  [部署名]  ｜  [作成者]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24744" y="6345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566928" y="457200"/>
            <a:ext cx="64008" cy="384048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1"/>
          <p:cNvSpPr/>
          <p:nvPr/>
        </p:nvSpPr>
        <p:spPr>
          <a:xfrm>
            <a:off x="768096" y="384048"/>
            <a:ext cx="108566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[タイトル]</a:t>
            </a:r>
            <a:endParaRPr lang="en-US" sz="3000" dirty="0"/>
          </a:p>
        </p:txBody>
      </p:sp>
      <p:sp>
        <p:nvSpPr>
          <p:cNvPr id="12" name="Text 2"/>
          <p:cNvSpPr/>
          <p:nvPr/>
        </p:nvSpPr>
        <p:spPr>
          <a:xfrm>
            <a:off x="768096" y="987552"/>
            <a:ext cx="108566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[各論点は独立して判断でき、順に読む必要はない]</a:t>
            </a:r>
            <a:endParaRPr lang="en-US" sz="1300" dirty="0"/>
          </a:p>
        </p:txBody>
      </p:sp>
      <p:sp>
        <p:nvSpPr>
          <p:cNvPr id="13" name="Text 3"/>
          <p:cNvSpPr/>
          <p:nvPr/>
        </p:nvSpPr>
        <p:spPr>
          <a:xfrm>
            <a:off x="566928" y="63459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agenda  ｜  base  ｜  アジェンダ</a:t>
            </a:r>
            <a:endParaRPr lang="en-US" sz="900" dirty="0"/>
          </a:p>
        </p:txBody>
      </p:sp>
      <p:sp>
        <p:nvSpPr>
          <p:cNvPr id="14" name="Text 4"/>
          <p:cNvSpPr/>
          <p:nvPr/>
        </p:nvSpPr>
        <p:spPr>
          <a:xfrm>
            <a:off x="10524744" y="6345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5"/>
          <p:cNvSpPr/>
          <p:nvPr/>
        </p:nvSpPr>
        <p:spPr>
          <a:xfrm>
            <a:off x="566928" y="148132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2400" dirty="0"/>
          </a:p>
        </p:txBody>
      </p:sp>
      <p:sp>
        <p:nvSpPr>
          <p:cNvPr id="16" name="Text 6"/>
          <p:cNvSpPr/>
          <p:nvPr/>
        </p:nvSpPr>
        <p:spPr>
          <a:xfrm>
            <a:off x="1481328" y="14813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[論点1の見出し]</a:t>
            </a:r>
            <a:endParaRPr lang="en-US" sz="1900" dirty="0"/>
          </a:p>
        </p:txBody>
      </p:sp>
      <p:sp>
        <p:nvSpPr>
          <p:cNvPr id="17" name="Text 7"/>
          <p:cNvSpPr/>
          <p:nvPr/>
        </p:nvSpPr>
        <p:spPr>
          <a:xfrm>
            <a:off x="6419088" y="14813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[この章で答える問い]</a:t>
            </a:r>
            <a:endParaRPr lang="en-US" sz="1300" dirty="0"/>
          </a:p>
        </p:txBody>
      </p:sp>
      <p:sp>
        <p:nvSpPr>
          <p:cNvPr id="18" name="Shape 8"/>
          <p:cNvSpPr/>
          <p:nvPr/>
        </p:nvSpPr>
        <p:spPr>
          <a:xfrm>
            <a:off x="566928" y="2261362"/>
            <a:ext cx="11057839" cy="12700"/>
          </a:xfrm>
          <a:prstGeom prst="rect">
            <a:avLst/>
          </a:prstGeom>
          <a:solidFill>
            <a:srgbClr val="D8DE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9"/>
          <p:cNvSpPr/>
          <p:nvPr/>
        </p:nvSpPr>
        <p:spPr>
          <a:xfrm>
            <a:off x="566928" y="26700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2400" dirty="0"/>
          </a:p>
        </p:txBody>
      </p:sp>
      <p:sp>
        <p:nvSpPr>
          <p:cNvPr id="20" name="Text 10"/>
          <p:cNvSpPr/>
          <p:nvPr/>
        </p:nvSpPr>
        <p:spPr>
          <a:xfrm>
            <a:off x="1481328" y="26700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[論点2の見出し]</a:t>
            </a:r>
            <a:endParaRPr lang="en-US" sz="1900" dirty="0"/>
          </a:p>
        </p:txBody>
      </p:sp>
      <p:sp>
        <p:nvSpPr>
          <p:cNvPr id="21" name="Text 11"/>
          <p:cNvSpPr/>
          <p:nvPr/>
        </p:nvSpPr>
        <p:spPr>
          <a:xfrm>
            <a:off x="6419088" y="26700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[この章で答える問い]</a:t>
            </a:r>
            <a:endParaRPr lang="en-US" sz="1300" dirty="0"/>
          </a:p>
        </p:txBody>
      </p:sp>
      <p:sp>
        <p:nvSpPr>
          <p:cNvPr id="22" name="Shape 12"/>
          <p:cNvSpPr/>
          <p:nvPr/>
        </p:nvSpPr>
        <p:spPr>
          <a:xfrm>
            <a:off x="566928" y="3450082"/>
            <a:ext cx="11057839" cy="12700"/>
          </a:xfrm>
          <a:prstGeom prst="rect">
            <a:avLst/>
          </a:prstGeom>
          <a:solidFill>
            <a:srgbClr val="D8DE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13"/>
          <p:cNvSpPr/>
          <p:nvPr/>
        </p:nvSpPr>
        <p:spPr>
          <a:xfrm>
            <a:off x="566928" y="38587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2400" dirty="0"/>
          </a:p>
        </p:txBody>
      </p:sp>
      <p:sp>
        <p:nvSpPr>
          <p:cNvPr id="24" name="Text 14"/>
          <p:cNvSpPr/>
          <p:nvPr/>
        </p:nvSpPr>
        <p:spPr>
          <a:xfrm>
            <a:off x="1481328" y="38587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[論点3の見出し]</a:t>
            </a:r>
            <a:endParaRPr lang="en-US" sz="1900" dirty="0"/>
          </a:p>
        </p:txBody>
      </p:sp>
      <p:sp>
        <p:nvSpPr>
          <p:cNvPr id="25" name="Text 15"/>
          <p:cNvSpPr/>
          <p:nvPr/>
        </p:nvSpPr>
        <p:spPr>
          <a:xfrm>
            <a:off x="6419088" y="38587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[この章で答える問い]</a:t>
            </a:r>
            <a:endParaRPr lang="en-US" sz="1300" dirty="0"/>
          </a:p>
        </p:txBody>
      </p:sp>
      <p:sp>
        <p:nvSpPr>
          <p:cNvPr id="26" name="Shape 16"/>
          <p:cNvSpPr/>
          <p:nvPr/>
        </p:nvSpPr>
        <p:spPr>
          <a:xfrm>
            <a:off x="566928" y="4638802"/>
            <a:ext cx="11057839" cy="12700"/>
          </a:xfrm>
          <a:prstGeom prst="rect">
            <a:avLst/>
          </a:prstGeom>
          <a:solidFill>
            <a:srgbClr val="D8DE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17"/>
          <p:cNvSpPr/>
          <p:nvPr/>
        </p:nvSpPr>
        <p:spPr>
          <a:xfrm>
            <a:off x="566928" y="504748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2400" dirty="0"/>
          </a:p>
        </p:txBody>
      </p:sp>
      <p:sp>
        <p:nvSpPr>
          <p:cNvPr id="28" name="Text 18"/>
          <p:cNvSpPr/>
          <p:nvPr/>
        </p:nvSpPr>
        <p:spPr>
          <a:xfrm>
            <a:off x="1481328" y="50474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[論点4の見出し]</a:t>
            </a:r>
            <a:endParaRPr lang="en-US" sz="1900" dirty="0"/>
          </a:p>
        </p:txBody>
      </p:sp>
      <p:sp>
        <p:nvSpPr>
          <p:cNvPr id="29" name="Text 19"/>
          <p:cNvSpPr/>
          <p:nvPr/>
        </p:nvSpPr>
        <p:spPr>
          <a:xfrm>
            <a:off x="6419088" y="50474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[この章で答える問い]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/>
          <p:nvPr/>
        </p:nvSpPr>
        <p:spPr>
          <a:xfrm>
            <a:off x="566928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section-divider  ｜  base  ｜  章扉</a:t>
            </a:r>
            <a:endParaRPr lang="en-US" sz="1000" dirty="0"/>
          </a:p>
        </p:txBody>
      </p:sp>
      <p:sp>
        <p:nvSpPr>
          <p:cNvPr id="32" name="Text 1"/>
          <p:cNvSpPr/>
          <p:nvPr/>
        </p:nvSpPr>
        <p:spPr>
          <a:xfrm>
            <a:off x="566928" y="27432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7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00</a:t>
            </a:r>
            <a:endParaRPr lang="en-US" sz="4000" dirty="0"/>
          </a:p>
        </p:txBody>
      </p:sp>
      <p:sp>
        <p:nvSpPr>
          <p:cNvPr id="33" name="Text 2"/>
          <p:cNvSpPr/>
          <p:nvPr/>
        </p:nvSpPr>
        <p:spPr>
          <a:xfrm>
            <a:off x="2395728" y="27432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[章タイトル]</a:t>
            </a:r>
            <a:endParaRPr lang="en-US" sz="3000" dirty="0"/>
          </a:p>
        </p:txBody>
      </p:sp>
      <p:sp>
        <p:nvSpPr>
          <p:cNvPr id="34" name="Text 3"/>
          <p:cNvSpPr/>
          <p:nvPr/>
        </p:nvSpPr>
        <p:spPr>
          <a:xfrm>
            <a:off x="2395728" y="370332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[この章で扱う範囲と答える問い]</a:t>
            </a:r>
            <a:endParaRPr lang="en-US" sz="1400" dirty="0"/>
          </a:p>
        </p:txBody>
      </p:sp>
      <p:sp>
        <p:nvSpPr>
          <p:cNvPr id="35" name="Text 4"/>
          <p:cNvSpPr/>
          <p:nvPr/>
        </p:nvSpPr>
        <p:spPr>
          <a:xfrm>
            <a:off x="10524744" y="6345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0"/>
          <p:cNvSpPr/>
          <p:nvPr/>
        </p:nvSpPr>
        <p:spPr>
          <a:xfrm>
            <a:off x="566928" y="457200"/>
            <a:ext cx="64008" cy="384048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1"/>
          <p:cNvSpPr/>
          <p:nvPr/>
        </p:nvSpPr>
        <p:spPr>
          <a:xfrm>
            <a:off x="768096" y="384048"/>
            <a:ext cx="108566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[タイトル]</a:t>
            </a:r>
            <a:endParaRPr lang="en-US" sz="3000" dirty="0"/>
          </a:p>
        </p:txBody>
      </p:sp>
      <p:sp>
        <p:nvSpPr>
          <p:cNvPr id="39" name="Text 2"/>
          <p:cNvSpPr/>
          <p:nvPr/>
        </p:nvSpPr>
        <p:spPr>
          <a:xfrm>
            <a:off x="768096" y="987552"/>
            <a:ext cx="108566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[結論・根拠・依頼事項を一枚に収める]</a:t>
            </a:r>
            <a:endParaRPr lang="en-US" sz="1300" dirty="0"/>
          </a:p>
        </p:txBody>
      </p:sp>
      <p:sp>
        <p:nvSpPr>
          <p:cNvPr id="40" name="Text 3"/>
          <p:cNvSpPr/>
          <p:nvPr/>
        </p:nvSpPr>
        <p:spPr>
          <a:xfrm>
            <a:off x="566928" y="63459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executive-summary  ｜  base  ｜  エグゼクティブサマリー</a:t>
            </a:r>
            <a:endParaRPr lang="en-US" sz="900" dirty="0"/>
          </a:p>
        </p:txBody>
      </p:sp>
      <p:sp>
        <p:nvSpPr>
          <p:cNvPr id="41" name="Text 4"/>
          <p:cNvSpPr/>
          <p:nvPr/>
        </p:nvSpPr>
        <p:spPr>
          <a:xfrm>
            <a:off x="10524744" y="6345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  <p:sp>
        <p:nvSpPr>
          <p:cNvPr id="42" name="Text 5"/>
          <p:cNvSpPr/>
          <p:nvPr/>
        </p:nvSpPr>
        <p:spPr>
          <a:xfrm>
            <a:off x="566928" y="1481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</a:t>
            </a:r>
            <a:endParaRPr lang="en-US" sz="1200" dirty="0"/>
          </a:p>
        </p:txBody>
      </p:sp>
      <p:sp>
        <p:nvSpPr>
          <p:cNvPr id="43" name="Text 6"/>
          <p:cNvSpPr/>
          <p:nvPr/>
        </p:nvSpPr>
        <p:spPr>
          <a:xfrm>
            <a:off x="566928" y="18288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[結論を断定で書く。二文目で条件や範囲を補足する]</a:t>
            </a:r>
            <a:endParaRPr lang="en-US" sz="1500" dirty="0"/>
          </a:p>
        </p:txBody>
      </p:sp>
      <p:sp>
        <p:nvSpPr>
          <p:cNvPr id="44" name="Text 7"/>
          <p:cNvSpPr/>
          <p:nvPr/>
        </p:nvSpPr>
        <p:spPr>
          <a:xfrm>
            <a:off x="566928" y="285292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45" name="Text 8"/>
          <p:cNvSpPr/>
          <p:nvPr/>
        </p:nvSpPr>
        <p:spPr>
          <a:xfrm>
            <a:off x="1161288" y="28529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[要点1の結論]</a:t>
            </a:r>
            <a:endParaRPr lang="en-US" sz="1400" dirty="0"/>
          </a:p>
        </p:txBody>
      </p:sp>
      <p:sp>
        <p:nvSpPr>
          <p:cNvPr id="46" name="Text 9"/>
          <p:cNvSpPr/>
          <p:nvPr/>
        </p:nvSpPr>
        <p:spPr>
          <a:xfrm>
            <a:off x="4315968" y="28529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[根拠・意味・成立条件]</a:t>
            </a:r>
            <a:endParaRPr lang="en-US" sz="1100" dirty="0"/>
          </a:p>
        </p:txBody>
      </p:sp>
      <p:sp>
        <p:nvSpPr>
          <p:cNvPr id="47" name="Shape 10"/>
          <p:cNvSpPr/>
          <p:nvPr/>
        </p:nvSpPr>
        <p:spPr>
          <a:xfrm>
            <a:off x="566928" y="3413506"/>
            <a:ext cx="7498080" cy="12700"/>
          </a:xfrm>
          <a:prstGeom prst="rect">
            <a:avLst/>
          </a:prstGeom>
          <a:solidFill>
            <a:srgbClr val="D8DE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11"/>
          <p:cNvSpPr/>
          <p:nvPr/>
        </p:nvSpPr>
        <p:spPr>
          <a:xfrm>
            <a:off x="566928" y="363931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49" name="Text 12"/>
          <p:cNvSpPr/>
          <p:nvPr/>
        </p:nvSpPr>
        <p:spPr>
          <a:xfrm>
            <a:off x="1161288" y="36393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[要点2の結論]</a:t>
            </a:r>
            <a:endParaRPr lang="en-US" sz="1400" dirty="0"/>
          </a:p>
        </p:txBody>
      </p:sp>
      <p:sp>
        <p:nvSpPr>
          <p:cNvPr id="50" name="Text 13"/>
          <p:cNvSpPr/>
          <p:nvPr/>
        </p:nvSpPr>
        <p:spPr>
          <a:xfrm>
            <a:off x="4315968" y="36393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[根拠・意味・成立条件]</a:t>
            </a:r>
            <a:endParaRPr lang="en-US" sz="1100" dirty="0"/>
          </a:p>
        </p:txBody>
      </p:sp>
      <p:sp>
        <p:nvSpPr>
          <p:cNvPr id="51" name="Shape 14"/>
          <p:cNvSpPr/>
          <p:nvPr/>
        </p:nvSpPr>
        <p:spPr>
          <a:xfrm>
            <a:off x="566928" y="4199890"/>
            <a:ext cx="7498080" cy="12700"/>
          </a:xfrm>
          <a:prstGeom prst="rect">
            <a:avLst/>
          </a:prstGeom>
          <a:solidFill>
            <a:srgbClr val="D8DE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15"/>
          <p:cNvSpPr/>
          <p:nvPr/>
        </p:nvSpPr>
        <p:spPr>
          <a:xfrm>
            <a:off x="566928" y="442569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53" name="Text 16"/>
          <p:cNvSpPr/>
          <p:nvPr/>
        </p:nvSpPr>
        <p:spPr>
          <a:xfrm>
            <a:off x="1161288" y="44256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[要点3の結論]</a:t>
            </a:r>
            <a:endParaRPr lang="en-US" sz="1400" dirty="0"/>
          </a:p>
        </p:txBody>
      </p:sp>
      <p:sp>
        <p:nvSpPr>
          <p:cNvPr id="54" name="Text 17"/>
          <p:cNvSpPr/>
          <p:nvPr/>
        </p:nvSpPr>
        <p:spPr>
          <a:xfrm>
            <a:off x="4315968" y="44256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[根拠・意味・成立条件]</a:t>
            </a:r>
            <a:endParaRPr lang="en-US" sz="1100" dirty="0"/>
          </a:p>
        </p:txBody>
      </p:sp>
      <p:sp>
        <p:nvSpPr>
          <p:cNvPr id="55" name="Shape 18"/>
          <p:cNvSpPr/>
          <p:nvPr/>
        </p:nvSpPr>
        <p:spPr>
          <a:xfrm>
            <a:off x="8366760" y="1481328"/>
            <a:ext cx="3246120" cy="3108960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19"/>
          <p:cNvSpPr/>
          <p:nvPr/>
        </p:nvSpPr>
        <p:spPr>
          <a:xfrm>
            <a:off x="8641080" y="17007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必要な判断</a:t>
            </a:r>
            <a:endParaRPr lang="en-US" sz="1100" dirty="0"/>
          </a:p>
        </p:txBody>
      </p:sp>
      <p:sp>
        <p:nvSpPr>
          <p:cNvPr id="57" name="Text 20"/>
          <p:cNvSpPr/>
          <p:nvPr/>
        </p:nvSpPr>
        <p:spPr>
          <a:xfrm>
            <a:off x="8641080" y="2121408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[承認・選択・確認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してほしいこと]</a:t>
            </a:r>
            <a:endParaRPr lang="en-US" sz="1800" dirty="0"/>
          </a:p>
        </p:txBody>
      </p:sp>
      <p:sp>
        <p:nvSpPr>
          <p:cNvPr id="58" name="Text 21"/>
          <p:cNvSpPr/>
          <p:nvPr/>
        </p:nvSpPr>
        <p:spPr>
          <a:xfrm>
            <a:off x="8641080" y="3310128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[期限]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[判断者]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[前提条件]</a:t>
            </a:r>
            <a:endParaRPr lang="en-US" sz="1100" dirty="0"/>
          </a:p>
        </p:txBody>
      </p:sp>
      <p:sp>
        <p:nvSpPr>
          <p:cNvPr id="59" name="Text 22"/>
          <p:cNvSpPr/>
          <p:nvPr/>
        </p:nvSpPr>
        <p:spPr>
          <a:xfrm>
            <a:off x="566928" y="607161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[出所／対象期間／母数 n=／基準日]。無い場合は ※要確認 と明記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566928" y="457200"/>
            <a:ext cx="64008" cy="384048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1"/>
          <p:cNvSpPr/>
          <p:nvPr/>
        </p:nvSpPr>
        <p:spPr>
          <a:xfrm>
            <a:off x="768096" y="384048"/>
            <a:ext cx="108566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[タイトル]</a:t>
            </a:r>
            <a:endParaRPr lang="en-US" sz="3000" dirty="0"/>
          </a:p>
        </p:txBody>
      </p:sp>
      <p:sp>
        <p:nvSpPr>
          <p:cNvPr id="63" name="Text 2"/>
          <p:cNvSpPr/>
          <p:nvPr/>
        </p:nvSpPr>
        <p:spPr>
          <a:xfrm>
            <a:off x="768096" y="987552"/>
            <a:ext cx="108566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[一枚に一つだけ言い切る]</a:t>
            </a:r>
            <a:endParaRPr lang="en-US" sz="1300" dirty="0"/>
          </a:p>
        </p:txBody>
      </p:sp>
      <p:sp>
        <p:nvSpPr>
          <p:cNvPr id="64" name="Text 3"/>
          <p:cNvSpPr/>
          <p:nvPr/>
        </p:nvSpPr>
        <p:spPr>
          <a:xfrm>
            <a:off x="566928" y="63459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key-message  ｜  argument  ｜  キーメッセージ</a:t>
            </a:r>
            <a:endParaRPr lang="en-US" sz="900" dirty="0"/>
          </a:p>
        </p:txBody>
      </p:sp>
      <p:sp>
        <p:nvSpPr>
          <p:cNvPr id="65" name="Text 4"/>
          <p:cNvSpPr/>
          <p:nvPr/>
        </p:nvSpPr>
        <p:spPr>
          <a:xfrm>
            <a:off x="10524744" y="6345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  <p:sp>
        <p:nvSpPr>
          <p:cNvPr id="66" name="Shape 5"/>
          <p:cNvSpPr/>
          <p:nvPr/>
        </p:nvSpPr>
        <p:spPr>
          <a:xfrm>
            <a:off x="566928" y="1481328"/>
            <a:ext cx="6400800" cy="265176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"/>
          <p:cNvSpPr/>
          <p:nvPr/>
        </p:nvSpPr>
        <p:spPr>
          <a:xfrm>
            <a:off x="1024128" y="1618488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2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[最も伝えたい結論を一文で]</a:t>
            </a:r>
            <a:endParaRPr lang="en-US" sz="2200" dirty="0"/>
          </a:p>
        </p:txBody>
      </p:sp>
      <p:sp>
        <p:nvSpPr>
          <p:cNvPr id="68" name="Shape 7"/>
          <p:cNvSpPr/>
          <p:nvPr/>
        </p:nvSpPr>
        <p:spPr>
          <a:xfrm>
            <a:off x="1024128" y="3772916"/>
            <a:ext cx="201168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Text 8"/>
          <p:cNvSpPr/>
          <p:nvPr/>
        </p:nvSpPr>
        <p:spPr>
          <a:xfrm>
            <a:off x="7315200" y="1481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根拠</a:t>
            </a:r>
            <a:endParaRPr lang="en-US" sz="1200" dirty="0"/>
          </a:p>
        </p:txBody>
      </p:sp>
      <p:sp>
        <p:nvSpPr>
          <p:cNvPr id="70" name="Text 9"/>
          <p:cNvSpPr/>
          <p:nvPr/>
        </p:nvSpPr>
        <p:spPr>
          <a:xfrm>
            <a:off x="7315200" y="1956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71" name="Text 10"/>
          <p:cNvSpPr/>
          <p:nvPr/>
        </p:nvSpPr>
        <p:spPr>
          <a:xfrm>
            <a:off x="7818120" y="195681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[根拠1]</a:t>
            </a:r>
            <a:endParaRPr lang="en-US" sz="1300" dirty="0"/>
          </a:p>
        </p:txBody>
      </p:sp>
      <p:sp>
        <p:nvSpPr>
          <p:cNvPr id="72" name="Text 11"/>
          <p:cNvSpPr/>
          <p:nvPr/>
        </p:nvSpPr>
        <p:spPr>
          <a:xfrm>
            <a:off x="7315200" y="2651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73" name="Text 12"/>
          <p:cNvSpPr/>
          <p:nvPr/>
        </p:nvSpPr>
        <p:spPr>
          <a:xfrm>
            <a:off x="7818120" y="26517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[根拠2]</a:t>
            </a:r>
            <a:endParaRPr lang="en-US" sz="1300" dirty="0"/>
          </a:p>
        </p:txBody>
      </p:sp>
      <p:sp>
        <p:nvSpPr>
          <p:cNvPr id="74" name="Text 13"/>
          <p:cNvSpPr/>
          <p:nvPr/>
        </p:nvSpPr>
        <p:spPr>
          <a:xfrm>
            <a:off x="7315200" y="33467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75" name="Text 14"/>
          <p:cNvSpPr/>
          <p:nvPr/>
        </p:nvSpPr>
        <p:spPr>
          <a:xfrm>
            <a:off x="7818120" y="334670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[根拠3]</a:t>
            </a:r>
            <a:endParaRPr lang="en-US" sz="1300" dirty="0"/>
          </a:p>
        </p:txBody>
      </p:sp>
      <p:sp>
        <p:nvSpPr>
          <p:cNvPr id="76" name="Shape 15"/>
          <p:cNvSpPr/>
          <p:nvPr/>
        </p:nvSpPr>
        <p:spPr>
          <a:xfrm>
            <a:off x="566928" y="5358384"/>
            <a:ext cx="11057839" cy="475488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Text 16"/>
          <p:cNvSpPr/>
          <p:nvPr/>
        </p:nvSpPr>
        <p:spPr>
          <a:xfrm>
            <a:off x="768096" y="5413248"/>
            <a:ext cx="10655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[結論。だから次に何を決めるかを書く]</a:t>
            </a:r>
            <a:endParaRPr lang="en-US" sz="1400" dirty="0"/>
          </a:p>
        </p:txBody>
      </p:sp>
      <p:sp>
        <p:nvSpPr>
          <p:cNvPr id="78" name="Text 17"/>
          <p:cNvSpPr/>
          <p:nvPr/>
        </p:nvSpPr>
        <p:spPr>
          <a:xfrm>
            <a:off x="566928" y="607161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[出所／対象期間／母数 n=／基準日]。無い場合は ※要確認 と明記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0"/>
          <p:cNvSpPr/>
          <p:nvPr/>
        </p:nvSpPr>
        <p:spPr>
          <a:xfrm>
            <a:off x="566928" y="457200"/>
            <a:ext cx="64008" cy="384048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Text 1"/>
          <p:cNvSpPr/>
          <p:nvPr/>
        </p:nvSpPr>
        <p:spPr>
          <a:xfrm>
            <a:off x="768096" y="384048"/>
            <a:ext cx="108566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[タイトル]</a:t>
            </a:r>
            <a:endParaRPr lang="en-US" sz="3000" dirty="0"/>
          </a:p>
        </p:txBody>
      </p:sp>
      <p:sp>
        <p:nvSpPr>
          <p:cNvPr id="82" name="Text 2"/>
          <p:cNvSpPr/>
          <p:nvPr/>
        </p:nvSpPr>
        <p:spPr>
          <a:xfrm>
            <a:off x="768096" y="987552"/>
            <a:ext cx="108566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[一つの重要指標を三つの根拠で支える]</a:t>
            </a:r>
            <a:endParaRPr lang="en-US" sz="1300" dirty="0"/>
          </a:p>
        </p:txBody>
      </p:sp>
      <p:sp>
        <p:nvSpPr>
          <p:cNvPr id="83" name="Text 3"/>
          <p:cNvSpPr/>
          <p:nvPr/>
        </p:nvSpPr>
        <p:spPr>
          <a:xfrm>
            <a:off x="566928" y="63459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key-number  ｜  argument  ｜  大数字</a:t>
            </a:r>
            <a:endParaRPr lang="en-US" sz="900" dirty="0"/>
          </a:p>
        </p:txBody>
      </p:sp>
      <p:sp>
        <p:nvSpPr>
          <p:cNvPr id="84" name="Text 4"/>
          <p:cNvSpPr/>
          <p:nvPr/>
        </p:nvSpPr>
        <p:spPr>
          <a:xfrm>
            <a:off x="10524744" y="6345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  <p:sp>
        <p:nvSpPr>
          <p:cNvPr id="85" name="Text 5"/>
          <p:cNvSpPr/>
          <p:nvPr/>
        </p:nvSpPr>
        <p:spPr>
          <a:xfrm>
            <a:off x="566928" y="1664208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[00%]</a:t>
            </a:r>
            <a:endParaRPr lang="en-US" sz="9600" dirty="0"/>
          </a:p>
        </p:txBody>
      </p:sp>
      <p:sp>
        <p:nvSpPr>
          <p:cNvPr id="86" name="Text 6"/>
          <p:cNvSpPr/>
          <p:nvPr/>
        </p:nvSpPr>
        <p:spPr>
          <a:xfrm>
            <a:off x="566928" y="36576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[指標名]</a:t>
            </a:r>
            <a:endParaRPr lang="en-US" sz="1600" dirty="0"/>
          </a:p>
        </p:txBody>
      </p:sp>
      <p:sp>
        <p:nvSpPr>
          <p:cNvPr id="87" name="Text 7"/>
          <p:cNvSpPr/>
          <p:nvPr/>
        </p:nvSpPr>
        <p:spPr>
          <a:xfrm>
            <a:off x="566928" y="4078224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[算定式・基準時点・比較対象]</a:t>
            </a:r>
            <a:endParaRPr lang="en-US" sz="1300" dirty="0"/>
          </a:p>
        </p:txBody>
      </p:sp>
      <p:sp>
        <p:nvSpPr>
          <p:cNvPr id="88" name="Text 8"/>
          <p:cNvSpPr/>
          <p:nvPr/>
        </p:nvSpPr>
        <p:spPr>
          <a:xfrm>
            <a:off x="6309360" y="148132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根拠となる三つの事実</a:t>
            </a:r>
            <a:endParaRPr lang="en-US" sz="1300" dirty="0"/>
          </a:p>
        </p:txBody>
      </p:sp>
      <p:sp>
        <p:nvSpPr>
          <p:cNvPr id="89" name="Text 9"/>
          <p:cNvSpPr/>
          <p:nvPr/>
        </p:nvSpPr>
        <p:spPr>
          <a:xfrm>
            <a:off x="6309360" y="20116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90" name="Text 10"/>
          <p:cNvSpPr/>
          <p:nvPr/>
        </p:nvSpPr>
        <p:spPr>
          <a:xfrm>
            <a:off x="6858000" y="20116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[根拠1]</a:t>
            </a:r>
            <a:endParaRPr lang="en-US" sz="1500" dirty="0"/>
          </a:p>
        </p:txBody>
      </p:sp>
      <p:sp>
        <p:nvSpPr>
          <p:cNvPr id="91" name="Text 11"/>
          <p:cNvSpPr/>
          <p:nvPr/>
        </p:nvSpPr>
        <p:spPr>
          <a:xfrm>
            <a:off x="6858000" y="2340864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[根拠の説明。何をどう変えたか]</a:t>
            </a:r>
            <a:endParaRPr lang="en-US" sz="1200" dirty="0"/>
          </a:p>
        </p:txBody>
      </p:sp>
      <p:sp>
        <p:nvSpPr>
          <p:cNvPr id="92" name="Text 12"/>
          <p:cNvSpPr/>
          <p:nvPr/>
        </p:nvSpPr>
        <p:spPr>
          <a:xfrm>
            <a:off x="6309360" y="308152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93" name="Text 13"/>
          <p:cNvSpPr/>
          <p:nvPr/>
        </p:nvSpPr>
        <p:spPr>
          <a:xfrm>
            <a:off x="6858000" y="30815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[根拠2]</a:t>
            </a:r>
            <a:endParaRPr lang="en-US" sz="1500" dirty="0"/>
          </a:p>
        </p:txBody>
      </p:sp>
      <p:sp>
        <p:nvSpPr>
          <p:cNvPr id="94" name="Text 14"/>
          <p:cNvSpPr/>
          <p:nvPr/>
        </p:nvSpPr>
        <p:spPr>
          <a:xfrm>
            <a:off x="6858000" y="3410712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[根拠の説明。何をどう変えたか]</a:t>
            </a:r>
            <a:endParaRPr lang="en-US" sz="1200" dirty="0"/>
          </a:p>
        </p:txBody>
      </p:sp>
      <p:sp>
        <p:nvSpPr>
          <p:cNvPr id="95" name="Text 15"/>
          <p:cNvSpPr/>
          <p:nvPr/>
        </p:nvSpPr>
        <p:spPr>
          <a:xfrm>
            <a:off x="6309360" y="415137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96" name="Text 16"/>
          <p:cNvSpPr/>
          <p:nvPr/>
        </p:nvSpPr>
        <p:spPr>
          <a:xfrm>
            <a:off x="6858000" y="41513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[根拠3]</a:t>
            </a:r>
            <a:endParaRPr lang="en-US" sz="1500" dirty="0"/>
          </a:p>
        </p:txBody>
      </p:sp>
      <p:sp>
        <p:nvSpPr>
          <p:cNvPr id="97" name="Text 17"/>
          <p:cNvSpPr/>
          <p:nvPr/>
        </p:nvSpPr>
        <p:spPr>
          <a:xfrm>
            <a:off x="6858000" y="4480560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[根拠の説明。何をどう変えたか]</a:t>
            </a:r>
            <a:endParaRPr lang="en-US" sz="1200" dirty="0"/>
          </a:p>
        </p:txBody>
      </p:sp>
      <p:sp>
        <p:nvSpPr>
          <p:cNvPr id="98" name="Shape 18"/>
          <p:cNvSpPr/>
          <p:nvPr/>
        </p:nvSpPr>
        <p:spPr>
          <a:xfrm>
            <a:off x="566928" y="5358384"/>
            <a:ext cx="11057839" cy="475488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9" name="Text 19"/>
          <p:cNvSpPr/>
          <p:nvPr/>
        </p:nvSpPr>
        <p:spPr>
          <a:xfrm>
            <a:off x="768096" y="5413248"/>
            <a:ext cx="10655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[結論。だから次に何を決めるかを書く]</a:t>
            </a:r>
            <a:endParaRPr lang="en-US" sz="1400" dirty="0"/>
          </a:p>
        </p:txBody>
      </p:sp>
      <p:sp>
        <p:nvSpPr>
          <p:cNvPr id="100" name="Text 20"/>
          <p:cNvSpPr/>
          <p:nvPr/>
        </p:nvSpPr>
        <p:spPr>
          <a:xfrm>
            <a:off x="566928" y="607161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[出所／対象期間／母数 n=／基準日]。無い場合は ※要確認 と明記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0"/>
          <p:cNvSpPr/>
          <p:nvPr/>
        </p:nvSpPr>
        <p:spPr>
          <a:xfrm>
            <a:off x="566928" y="457200"/>
            <a:ext cx="64008" cy="384048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3" name="Text 1"/>
          <p:cNvSpPr/>
          <p:nvPr/>
        </p:nvSpPr>
        <p:spPr>
          <a:xfrm>
            <a:off x="768096" y="384048"/>
            <a:ext cx="108566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[タイトル]</a:t>
            </a:r>
            <a:endParaRPr lang="en-US" sz="3000" dirty="0"/>
          </a:p>
        </p:txBody>
      </p:sp>
      <p:sp>
        <p:nvSpPr>
          <p:cNvPr id="104" name="Text 2"/>
          <p:cNvSpPr/>
          <p:nvPr/>
        </p:nvSpPr>
        <p:spPr>
          <a:xfrm>
            <a:off x="768096" y="987552"/>
            <a:ext cx="108566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[四つの指標で現状と示唆を示す]</a:t>
            </a:r>
            <a:endParaRPr lang="en-US" sz="1300" dirty="0"/>
          </a:p>
        </p:txBody>
      </p:sp>
      <p:sp>
        <p:nvSpPr>
          <p:cNvPr id="105" name="Text 3"/>
          <p:cNvSpPr/>
          <p:nvPr/>
        </p:nvSpPr>
        <p:spPr>
          <a:xfrm>
            <a:off x="566928" y="63459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kpi-cards  ｜  argument  ｜  指標カード</a:t>
            </a:r>
            <a:endParaRPr lang="en-US" sz="900" dirty="0"/>
          </a:p>
        </p:txBody>
      </p:sp>
      <p:sp>
        <p:nvSpPr>
          <p:cNvPr id="106" name="Text 4"/>
          <p:cNvSpPr/>
          <p:nvPr/>
        </p:nvSpPr>
        <p:spPr>
          <a:xfrm>
            <a:off x="10524744" y="6345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  <p:sp>
        <p:nvSpPr>
          <p:cNvPr id="107" name="Shape 5"/>
          <p:cNvSpPr/>
          <p:nvPr/>
        </p:nvSpPr>
        <p:spPr>
          <a:xfrm>
            <a:off x="566928" y="1481328"/>
            <a:ext cx="2455850" cy="173736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8" name="Text 6"/>
          <p:cNvSpPr/>
          <p:nvPr/>
        </p:nvSpPr>
        <p:spPr>
          <a:xfrm>
            <a:off x="841248" y="1737360"/>
            <a:ext cx="190721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[数値]</a:t>
            </a:r>
            <a:endParaRPr lang="en-US" sz="3200" dirty="0"/>
          </a:p>
        </p:txBody>
      </p:sp>
      <p:sp>
        <p:nvSpPr>
          <p:cNvPr id="109" name="Text 7"/>
          <p:cNvSpPr/>
          <p:nvPr/>
        </p:nvSpPr>
        <p:spPr>
          <a:xfrm>
            <a:off x="841248" y="2450592"/>
            <a:ext cx="1907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[指標名]</a:t>
            </a:r>
            <a:endParaRPr lang="en-US" sz="1200" dirty="0"/>
          </a:p>
        </p:txBody>
      </p:sp>
      <p:sp>
        <p:nvSpPr>
          <p:cNvPr id="110" name="Text 8"/>
          <p:cNvSpPr/>
          <p:nvPr/>
        </p:nvSpPr>
        <p:spPr>
          <a:xfrm>
            <a:off x="841248" y="2761488"/>
            <a:ext cx="1907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[定義・比較基準]</a:t>
            </a:r>
            <a:endParaRPr lang="en-US" sz="1100" dirty="0"/>
          </a:p>
        </p:txBody>
      </p:sp>
      <p:sp>
        <p:nvSpPr>
          <p:cNvPr id="111" name="Shape 9"/>
          <p:cNvSpPr/>
          <p:nvPr/>
        </p:nvSpPr>
        <p:spPr>
          <a:xfrm>
            <a:off x="3434258" y="1481328"/>
            <a:ext cx="2455850" cy="173736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2" name="Text 10"/>
          <p:cNvSpPr/>
          <p:nvPr/>
        </p:nvSpPr>
        <p:spPr>
          <a:xfrm>
            <a:off x="3708578" y="1737360"/>
            <a:ext cx="190721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[数値]</a:t>
            </a:r>
            <a:endParaRPr lang="en-US" sz="3200" dirty="0"/>
          </a:p>
        </p:txBody>
      </p:sp>
      <p:sp>
        <p:nvSpPr>
          <p:cNvPr id="113" name="Text 11"/>
          <p:cNvSpPr/>
          <p:nvPr/>
        </p:nvSpPr>
        <p:spPr>
          <a:xfrm>
            <a:off x="3708578" y="2450592"/>
            <a:ext cx="1907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[指標名]</a:t>
            </a:r>
            <a:endParaRPr lang="en-US" sz="1200" dirty="0"/>
          </a:p>
        </p:txBody>
      </p:sp>
      <p:sp>
        <p:nvSpPr>
          <p:cNvPr id="114" name="Text 12"/>
          <p:cNvSpPr/>
          <p:nvPr/>
        </p:nvSpPr>
        <p:spPr>
          <a:xfrm>
            <a:off x="3708578" y="2761488"/>
            <a:ext cx="1907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[定義・比較基準]</a:t>
            </a:r>
            <a:endParaRPr lang="en-US" sz="1100" dirty="0"/>
          </a:p>
        </p:txBody>
      </p:sp>
      <p:sp>
        <p:nvSpPr>
          <p:cNvPr id="115" name="Shape 13"/>
          <p:cNvSpPr/>
          <p:nvPr/>
        </p:nvSpPr>
        <p:spPr>
          <a:xfrm>
            <a:off x="6301588" y="1481328"/>
            <a:ext cx="2455850" cy="173736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6" name="Text 14"/>
          <p:cNvSpPr/>
          <p:nvPr/>
        </p:nvSpPr>
        <p:spPr>
          <a:xfrm>
            <a:off x="6575908" y="1737360"/>
            <a:ext cx="190721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[数値]</a:t>
            </a:r>
            <a:endParaRPr lang="en-US" sz="3200" dirty="0"/>
          </a:p>
        </p:txBody>
      </p:sp>
      <p:sp>
        <p:nvSpPr>
          <p:cNvPr id="117" name="Text 15"/>
          <p:cNvSpPr/>
          <p:nvPr/>
        </p:nvSpPr>
        <p:spPr>
          <a:xfrm>
            <a:off x="6575908" y="2450592"/>
            <a:ext cx="1907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[指標名]</a:t>
            </a:r>
            <a:endParaRPr lang="en-US" sz="1200" dirty="0"/>
          </a:p>
        </p:txBody>
      </p:sp>
      <p:sp>
        <p:nvSpPr>
          <p:cNvPr id="118" name="Text 16"/>
          <p:cNvSpPr/>
          <p:nvPr/>
        </p:nvSpPr>
        <p:spPr>
          <a:xfrm>
            <a:off x="6575908" y="2761488"/>
            <a:ext cx="1907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[定義・比較基準]</a:t>
            </a:r>
            <a:endParaRPr lang="en-US" sz="1100" dirty="0"/>
          </a:p>
        </p:txBody>
      </p:sp>
      <p:sp>
        <p:nvSpPr>
          <p:cNvPr id="119" name="Shape 17"/>
          <p:cNvSpPr/>
          <p:nvPr/>
        </p:nvSpPr>
        <p:spPr>
          <a:xfrm>
            <a:off x="9168917" y="1481328"/>
            <a:ext cx="2455850" cy="173736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0" name="Text 18"/>
          <p:cNvSpPr/>
          <p:nvPr/>
        </p:nvSpPr>
        <p:spPr>
          <a:xfrm>
            <a:off x="9443237" y="1737360"/>
            <a:ext cx="190721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7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[数値]</a:t>
            </a:r>
            <a:endParaRPr lang="en-US" sz="3200" dirty="0"/>
          </a:p>
        </p:txBody>
      </p:sp>
      <p:sp>
        <p:nvSpPr>
          <p:cNvPr id="121" name="Text 19"/>
          <p:cNvSpPr/>
          <p:nvPr/>
        </p:nvSpPr>
        <p:spPr>
          <a:xfrm>
            <a:off x="9443237" y="2450592"/>
            <a:ext cx="1907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[指標名]</a:t>
            </a:r>
            <a:endParaRPr lang="en-US" sz="1200" dirty="0"/>
          </a:p>
        </p:txBody>
      </p:sp>
      <p:sp>
        <p:nvSpPr>
          <p:cNvPr id="122" name="Text 20"/>
          <p:cNvSpPr/>
          <p:nvPr/>
        </p:nvSpPr>
        <p:spPr>
          <a:xfrm>
            <a:off x="9443237" y="2761488"/>
            <a:ext cx="1907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[定義・比較基準]</a:t>
            </a:r>
            <a:endParaRPr lang="en-US" sz="1100" dirty="0"/>
          </a:p>
        </p:txBody>
      </p:sp>
      <p:sp>
        <p:nvSpPr>
          <p:cNvPr id="123" name="Text 21"/>
          <p:cNvSpPr/>
          <p:nvPr/>
        </p:nvSpPr>
        <p:spPr>
          <a:xfrm>
            <a:off x="566928" y="35844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読み取るべきこと</a:t>
            </a:r>
            <a:endParaRPr lang="en-US" sz="1200" dirty="0"/>
          </a:p>
        </p:txBody>
      </p:sp>
      <p:sp>
        <p:nvSpPr>
          <p:cNvPr id="124" name="Text 22"/>
          <p:cNvSpPr/>
          <p:nvPr/>
        </p:nvSpPr>
        <p:spPr>
          <a:xfrm>
            <a:off x="566928" y="3968496"/>
            <a:ext cx="110578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[指標間の関係]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[基準からの乖離]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[次に確認する論点]</a:t>
            </a:r>
            <a:endParaRPr lang="en-US" sz="1200" dirty="0"/>
          </a:p>
        </p:txBody>
      </p:sp>
      <p:sp>
        <p:nvSpPr>
          <p:cNvPr id="125" name="Shape 23"/>
          <p:cNvSpPr/>
          <p:nvPr/>
        </p:nvSpPr>
        <p:spPr>
          <a:xfrm>
            <a:off x="566928" y="5358384"/>
            <a:ext cx="11057839" cy="475488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6" name="Text 24"/>
          <p:cNvSpPr/>
          <p:nvPr/>
        </p:nvSpPr>
        <p:spPr>
          <a:xfrm>
            <a:off x="768096" y="5413248"/>
            <a:ext cx="10655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[結論。だから次に何を決めるかを書く]</a:t>
            </a:r>
            <a:endParaRPr lang="en-US" sz="1400" dirty="0"/>
          </a:p>
        </p:txBody>
      </p:sp>
      <p:sp>
        <p:nvSpPr>
          <p:cNvPr id="127" name="Text 25"/>
          <p:cNvSpPr/>
          <p:nvPr/>
        </p:nvSpPr>
        <p:spPr>
          <a:xfrm>
            <a:off x="566928" y="607161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[出所／対象期間／母数 n=／基準日]。無い場合は ※要確認 と明記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0"/>
          <p:cNvSpPr/>
          <p:nvPr/>
        </p:nvSpPr>
        <p:spPr>
          <a:xfrm>
            <a:off x="566928" y="457200"/>
            <a:ext cx="64008" cy="384048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0" name="Text 1"/>
          <p:cNvSpPr/>
          <p:nvPr/>
        </p:nvSpPr>
        <p:spPr>
          <a:xfrm>
            <a:off x="768096" y="384048"/>
            <a:ext cx="108566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[タイトル]</a:t>
            </a:r>
            <a:endParaRPr lang="en-US" sz="3000" dirty="0"/>
          </a:p>
        </p:txBody>
      </p:sp>
      <p:sp>
        <p:nvSpPr>
          <p:cNvPr id="131" name="Text 2"/>
          <p:cNvSpPr/>
          <p:nvPr/>
        </p:nvSpPr>
        <p:spPr>
          <a:xfrm>
            <a:off x="768096" y="987552"/>
            <a:ext cx="108566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[観察事実から打ち手までを因果で結ぶ]</a:t>
            </a:r>
            <a:endParaRPr lang="en-US" sz="1300" dirty="0"/>
          </a:p>
        </p:txBody>
      </p:sp>
      <p:sp>
        <p:nvSpPr>
          <p:cNvPr id="132" name="Text 3"/>
          <p:cNvSpPr/>
          <p:nvPr/>
        </p:nvSpPr>
        <p:spPr>
          <a:xfrm>
            <a:off x="566928" y="63459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three-step  ｜  argument  ｜  因果三段</a:t>
            </a:r>
            <a:endParaRPr lang="en-US" sz="900" dirty="0"/>
          </a:p>
        </p:txBody>
      </p:sp>
      <p:sp>
        <p:nvSpPr>
          <p:cNvPr id="133" name="Text 4"/>
          <p:cNvSpPr/>
          <p:nvPr/>
        </p:nvSpPr>
        <p:spPr>
          <a:xfrm>
            <a:off x="10524744" y="6345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  <p:sp>
        <p:nvSpPr>
          <p:cNvPr id="134" name="Shape 5"/>
          <p:cNvSpPr/>
          <p:nvPr/>
        </p:nvSpPr>
        <p:spPr>
          <a:xfrm>
            <a:off x="566928" y="1481328"/>
            <a:ext cx="3350666" cy="265176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5" name="Text 6"/>
          <p:cNvSpPr/>
          <p:nvPr/>
        </p:nvSpPr>
        <p:spPr>
          <a:xfrm>
            <a:off x="859536" y="1700784"/>
            <a:ext cx="27654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[観察事実]</a:t>
            </a:r>
            <a:endParaRPr lang="en-US" sz="1400" dirty="0"/>
          </a:p>
        </p:txBody>
      </p:sp>
      <p:sp>
        <p:nvSpPr>
          <p:cNvPr id="136" name="Text 7"/>
          <p:cNvSpPr/>
          <p:nvPr/>
        </p:nvSpPr>
        <p:spPr>
          <a:xfrm>
            <a:off x="859536" y="2157984"/>
            <a:ext cx="276545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[項目1]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[項目2]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[項目3]</a:t>
            </a:r>
            <a:endParaRPr lang="en-US" sz="1200" dirty="0"/>
          </a:p>
        </p:txBody>
      </p:sp>
      <p:sp>
        <p:nvSpPr>
          <p:cNvPr id="137" name="Shape 8"/>
          <p:cNvSpPr/>
          <p:nvPr/>
        </p:nvSpPr>
        <p:spPr>
          <a:xfrm>
            <a:off x="4420514" y="1481328"/>
            <a:ext cx="3350666" cy="265176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8" name="Text 9"/>
          <p:cNvSpPr/>
          <p:nvPr/>
        </p:nvSpPr>
        <p:spPr>
          <a:xfrm>
            <a:off x="4713122" y="1700784"/>
            <a:ext cx="27654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[主な原因]</a:t>
            </a:r>
            <a:endParaRPr lang="en-US" sz="1400" dirty="0"/>
          </a:p>
        </p:txBody>
      </p:sp>
      <p:sp>
        <p:nvSpPr>
          <p:cNvPr id="139" name="Text 10"/>
          <p:cNvSpPr/>
          <p:nvPr/>
        </p:nvSpPr>
        <p:spPr>
          <a:xfrm>
            <a:off x="4713122" y="2157984"/>
            <a:ext cx="276545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[項目1]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[項目2]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[項目3]</a:t>
            </a:r>
            <a:endParaRPr lang="en-US" sz="1200" dirty="0"/>
          </a:p>
        </p:txBody>
      </p:sp>
      <p:sp>
        <p:nvSpPr>
          <p:cNvPr id="140" name="Shape 11"/>
          <p:cNvSpPr/>
          <p:nvPr/>
        </p:nvSpPr>
        <p:spPr>
          <a:xfrm>
            <a:off x="8274101" y="1481328"/>
            <a:ext cx="3350666" cy="2651760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1" name="Text 12"/>
          <p:cNvSpPr/>
          <p:nvPr/>
        </p:nvSpPr>
        <p:spPr>
          <a:xfrm>
            <a:off x="8566709" y="1700784"/>
            <a:ext cx="27654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[打ち手]</a:t>
            </a:r>
            <a:endParaRPr lang="en-US" sz="1400" dirty="0"/>
          </a:p>
        </p:txBody>
      </p:sp>
      <p:sp>
        <p:nvSpPr>
          <p:cNvPr id="142" name="Text 13"/>
          <p:cNvSpPr/>
          <p:nvPr/>
        </p:nvSpPr>
        <p:spPr>
          <a:xfrm>
            <a:off x="8566709" y="2157984"/>
            <a:ext cx="276545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[項目1]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[項目2]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[項目3]</a:t>
            </a:r>
            <a:endParaRPr lang="en-US" sz="1200" dirty="0"/>
          </a:p>
        </p:txBody>
      </p:sp>
      <p:sp>
        <p:nvSpPr>
          <p:cNvPr id="143" name="Text 14"/>
          <p:cNvSpPr/>
          <p:nvPr/>
        </p:nvSpPr>
        <p:spPr>
          <a:xfrm>
            <a:off x="3958488" y="2616200"/>
            <a:ext cx="411988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700" dirty="0"/>
          </a:p>
        </p:txBody>
      </p:sp>
      <p:sp>
        <p:nvSpPr>
          <p:cNvPr id="144" name="Text 15"/>
          <p:cNvSpPr/>
          <p:nvPr/>
        </p:nvSpPr>
        <p:spPr>
          <a:xfrm>
            <a:off x="7812075" y="2616200"/>
            <a:ext cx="411988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700" dirty="0"/>
          </a:p>
        </p:txBody>
      </p:sp>
      <p:sp>
        <p:nvSpPr>
          <p:cNvPr id="145" name="Shape 16"/>
          <p:cNvSpPr/>
          <p:nvPr/>
        </p:nvSpPr>
        <p:spPr>
          <a:xfrm>
            <a:off x="566928" y="5358384"/>
            <a:ext cx="11057839" cy="475488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6" name="Text 17"/>
          <p:cNvSpPr/>
          <p:nvPr/>
        </p:nvSpPr>
        <p:spPr>
          <a:xfrm>
            <a:off x="768096" y="5413248"/>
            <a:ext cx="10655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[結論。だから次に何を決めるかを書く]</a:t>
            </a:r>
            <a:endParaRPr lang="en-US" sz="1400" dirty="0"/>
          </a:p>
        </p:txBody>
      </p:sp>
      <p:sp>
        <p:nvSpPr>
          <p:cNvPr id="147" name="Text 18"/>
          <p:cNvSpPr/>
          <p:nvPr/>
        </p:nvSpPr>
        <p:spPr>
          <a:xfrm>
            <a:off x="566928" y="607161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[出所／対象期間／母数 n=／基準日]。無い場合は ※要確認 と明記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0"/>
          <p:cNvSpPr/>
          <p:nvPr/>
        </p:nvSpPr>
        <p:spPr>
          <a:xfrm>
            <a:off x="566928" y="457200"/>
            <a:ext cx="64008" cy="384048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0" name="Text 1"/>
          <p:cNvSpPr/>
          <p:nvPr/>
        </p:nvSpPr>
        <p:spPr>
          <a:xfrm>
            <a:off x="768096" y="384048"/>
            <a:ext cx="108566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[タイトル]</a:t>
            </a:r>
            <a:endParaRPr lang="en-US" sz="3000" dirty="0"/>
          </a:p>
        </p:txBody>
      </p:sp>
      <p:sp>
        <p:nvSpPr>
          <p:cNvPr id="151" name="Text 2"/>
          <p:cNvSpPr/>
          <p:nvPr/>
        </p:nvSpPr>
        <p:spPr>
          <a:xfrm>
            <a:off x="768096" y="987552"/>
            <a:ext cx="108566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[課題ごとに現状と打ち手を一行で対応させる]</a:t>
            </a:r>
            <a:endParaRPr lang="en-US" sz="1300" dirty="0"/>
          </a:p>
        </p:txBody>
      </p:sp>
      <p:sp>
        <p:nvSpPr>
          <p:cNvPr id="152" name="Text 3"/>
          <p:cNvSpPr/>
          <p:nvPr/>
        </p:nvSpPr>
        <p:spPr>
          <a:xfrm>
            <a:off x="566928" y="63459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argument-table  ｜  argument  ｜  論証テーブル</a:t>
            </a:r>
            <a:endParaRPr lang="en-US" sz="900" dirty="0"/>
          </a:p>
        </p:txBody>
      </p:sp>
      <p:sp>
        <p:nvSpPr>
          <p:cNvPr id="153" name="Text 4"/>
          <p:cNvSpPr/>
          <p:nvPr/>
        </p:nvSpPr>
        <p:spPr>
          <a:xfrm>
            <a:off x="10524744" y="6345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4108399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課題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現状（事実・数値）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打ち手（担当）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[課題]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[事実と数値。n=000、YYYY/MM時点]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[打ち手（担当部署）]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[課題]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[事実と数値。n=000、YYYY/MM時点]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[打ち手（担当部署）]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[課題]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[事実と数値。n=000、YYYY/MM時点]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[打ち手（担当部署）]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[課題]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[事実と数値。n=000、YYYY/MM時点]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[打ち手（担当部署）]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5" name="Shape 5"/>
          <p:cNvSpPr/>
          <p:nvPr/>
        </p:nvSpPr>
        <p:spPr>
          <a:xfrm>
            <a:off x="566928" y="5358384"/>
            <a:ext cx="11057839" cy="475488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6" name="Text 6"/>
          <p:cNvSpPr/>
          <p:nvPr/>
        </p:nvSpPr>
        <p:spPr>
          <a:xfrm>
            <a:off x="768096" y="5413248"/>
            <a:ext cx="10655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[結論。だから次に何を決めるかを書く]</a:t>
            </a:r>
            <a:endParaRPr lang="en-US" sz="1400" dirty="0"/>
          </a:p>
        </p:txBody>
      </p:sp>
      <p:sp>
        <p:nvSpPr>
          <p:cNvPr id="157" name="Text 7"/>
          <p:cNvSpPr/>
          <p:nvPr/>
        </p:nvSpPr>
        <p:spPr>
          <a:xfrm>
            <a:off x="566928" y="607161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[出所／対象期間／母数 n=／基準日]。無い場合は ※要確認 と明記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0"/>
          <p:cNvSpPr/>
          <p:nvPr/>
        </p:nvSpPr>
        <p:spPr>
          <a:xfrm>
            <a:off x="566928" y="457200"/>
            <a:ext cx="64008" cy="384048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0" name="Text 1"/>
          <p:cNvSpPr/>
          <p:nvPr/>
        </p:nvSpPr>
        <p:spPr>
          <a:xfrm>
            <a:off x="768096" y="384048"/>
            <a:ext cx="108566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[タイトル]</a:t>
            </a:r>
            <a:endParaRPr lang="en-US" sz="3000" dirty="0"/>
          </a:p>
        </p:txBody>
      </p:sp>
      <p:sp>
        <p:nvSpPr>
          <p:cNvPr id="161" name="Text 2"/>
          <p:cNvSpPr/>
          <p:nvPr/>
        </p:nvSpPr>
        <p:spPr>
          <a:xfrm>
            <a:off x="768096" y="987552"/>
            <a:ext cx="108566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[一つの論点を順序立てて説明する]</a:t>
            </a:r>
            <a:endParaRPr lang="en-US" sz="1300" dirty="0"/>
          </a:p>
        </p:txBody>
      </p:sp>
      <p:sp>
        <p:nvSpPr>
          <p:cNvPr id="162" name="Text 3"/>
          <p:cNvSpPr/>
          <p:nvPr/>
        </p:nvSpPr>
        <p:spPr>
          <a:xfrm>
            <a:off x="566928" y="63459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content-single  ｜  argument  ｜  単一論点</a:t>
            </a:r>
            <a:endParaRPr lang="en-US" sz="900" dirty="0"/>
          </a:p>
        </p:txBody>
      </p:sp>
      <p:sp>
        <p:nvSpPr>
          <p:cNvPr id="163" name="Text 4"/>
          <p:cNvSpPr/>
          <p:nvPr/>
        </p:nvSpPr>
        <p:spPr>
          <a:xfrm>
            <a:off x="10524744" y="6345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  <p:sp>
        <p:nvSpPr>
          <p:cNvPr id="164" name="Shape 5"/>
          <p:cNvSpPr/>
          <p:nvPr/>
        </p:nvSpPr>
        <p:spPr>
          <a:xfrm>
            <a:off x="566928" y="1481328"/>
            <a:ext cx="11057839" cy="54864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5" name="Text 6"/>
          <p:cNvSpPr/>
          <p:nvPr/>
        </p:nvSpPr>
        <p:spPr>
          <a:xfrm>
            <a:off x="841248" y="1481328"/>
            <a:ext cx="10509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[このページで答える問い]</a:t>
            </a:r>
            <a:endParaRPr lang="en-US" sz="1400" dirty="0"/>
          </a:p>
        </p:txBody>
      </p:sp>
      <p:sp>
        <p:nvSpPr>
          <p:cNvPr id="166" name="Text 7"/>
          <p:cNvSpPr/>
          <p:nvPr/>
        </p:nvSpPr>
        <p:spPr>
          <a:xfrm>
            <a:off x="841248" y="2304288"/>
            <a:ext cx="1050919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3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[論点1]</a:t>
            </a:r>
            <a:endParaRPr lang="en-US" sz="1400" dirty="0"/>
          </a:p>
          <a:p>
            <a:pPr marL="342900" indent="-342900">
              <a:lnSpc>
                <a:spcPts val="203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[論点2]</a:t>
            </a:r>
            <a:endParaRPr lang="en-US" sz="1400" dirty="0"/>
          </a:p>
          <a:p>
            <a:pPr marL="342900" indent="-342900">
              <a:lnSpc>
                <a:spcPts val="203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[論点3]</a:t>
            </a:r>
            <a:endParaRPr lang="en-US" sz="1400" dirty="0"/>
          </a:p>
          <a:p>
            <a:pPr marL="342900" indent="-342900">
              <a:lnSpc>
                <a:spcPts val="203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[必要な補足]</a:t>
            </a:r>
            <a:endParaRPr lang="en-US" sz="1400" dirty="0"/>
          </a:p>
        </p:txBody>
      </p:sp>
      <p:sp>
        <p:nvSpPr>
          <p:cNvPr id="167" name="Shape 8"/>
          <p:cNvSpPr/>
          <p:nvPr/>
        </p:nvSpPr>
        <p:spPr>
          <a:xfrm>
            <a:off x="566928" y="5358384"/>
            <a:ext cx="11057839" cy="475488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8" name="Text 9"/>
          <p:cNvSpPr/>
          <p:nvPr/>
        </p:nvSpPr>
        <p:spPr>
          <a:xfrm>
            <a:off x="768096" y="5413248"/>
            <a:ext cx="10655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[結論。だから次に何を決めるかを書く]</a:t>
            </a:r>
            <a:endParaRPr lang="en-US" sz="1400" dirty="0"/>
          </a:p>
        </p:txBody>
      </p:sp>
      <p:sp>
        <p:nvSpPr>
          <p:cNvPr id="169" name="Text 10"/>
          <p:cNvSpPr/>
          <p:nvPr/>
        </p:nvSpPr>
        <p:spPr>
          <a:xfrm>
            <a:off x="566928" y="607161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[出所／対象期間／母数 n=／基準日]。無い場合は ※要確認 と明記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0"/>
          <p:cNvSpPr/>
          <p:nvPr/>
        </p:nvSpPr>
        <p:spPr>
          <a:xfrm>
            <a:off x="566928" y="457200"/>
            <a:ext cx="64008" cy="384048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2" name="Text 1"/>
          <p:cNvSpPr/>
          <p:nvPr/>
        </p:nvSpPr>
        <p:spPr>
          <a:xfrm>
            <a:off x="768096" y="384048"/>
            <a:ext cx="108566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[タイトル]</a:t>
            </a:r>
            <a:endParaRPr lang="en-US" sz="3000" dirty="0"/>
          </a:p>
        </p:txBody>
      </p:sp>
      <p:sp>
        <p:nvSpPr>
          <p:cNvPr id="173" name="Text 2"/>
          <p:cNvSpPr/>
          <p:nvPr/>
        </p:nvSpPr>
        <p:spPr>
          <a:xfrm>
            <a:off x="768096" y="987552"/>
            <a:ext cx="108566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[二つの観点を同じ粒度で比較する]</a:t>
            </a:r>
            <a:endParaRPr lang="en-US" sz="1300" dirty="0"/>
          </a:p>
        </p:txBody>
      </p:sp>
      <p:sp>
        <p:nvSpPr>
          <p:cNvPr id="174" name="Text 3"/>
          <p:cNvSpPr/>
          <p:nvPr/>
        </p:nvSpPr>
        <p:spPr>
          <a:xfrm>
            <a:off x="566928" y="63459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two-column  ｜  decision  ｜  二枠比較</a:t>
            </a:r>
            <a:endParaRPr lang="en-US" sz="900" dirty="0"/>
          </a:p>
        </p:txBody>
      </p:sp>
      <p:sp>
        <p:nvSpPr>
          <p:cNvPr id="175" name="Text 4"/>
          <p:cNvSpPr/>
          <p:nvPr/>
        </p:nvSpPr>
        <p:spPr>
          <a:xfrm>
            <a:off x="10524744" y="6345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900" dirty="0"/>
          </a:p>
        </p:txBody>
      </p:sp>
      <p:sp>
        <p:nvSpPr>
          <p:cNvPr id="176" name="Shape 5"/>
          <p:cNvSpPr/>
          <p:nvPr/>
        </p:nvSpPr>
        <p:spPr>
          <a:xfrm>
            <a:off x="566928" y="1481328"/>
            <a:ext cx="5254600" cy="27432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7" name="Text 6"/>
          <p:cNvSpPr/>
          <p:nvPr/>
        </p:nvSpPr>
        <p:spPr>
          <a:xfrm>
            <a:off x="886968" y="1719072"/>
            <a:ext cx="461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[観点A／現状]</a:t>
            </a:r>
            <a:endParaRPr lang="en-US" sz="1500" dirty="0"/>
          </a:p>
        </p:txBody>
      </p:sp>
      <p:sp>
        <p:nvSpPr>
          <p:cNvPr id="178" name="Text 7"/>
          <p:cNvSpPr/>
          <p:nvPr/>
        </p:nvSpPr>
        <p:spPr>
          <a:xfrm>
            <a:off x="886968" y="2212848"/>
            <a:ext cx="4614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[比較項目1]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[比較項目2]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[比較項目3]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[留意点]</a:t>
            </a:r>
            <a:endParaRPr lang="en-US" sz="1200" dirty="0"/>
          </a:p>
        </p:txBody>
      </p:sp>
      <p:sp>
        <p:nvSpPr>
          <p:cNvPr id="179" name="Shape 8"/>
          <p:cNvSpPr/>
          <p:nvPr/>
        </p:nvSpPr>
        <p:spPr>
          <a:xfrm>
            <a:off x="6370168" y="1481328"/>
            <a:ext cx="5254600" cy="2743200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0" name="Text 9"/>
          <p:cNvSpPr/>
          <p:nvPr/>
        </p:nvSpPr>
        <p:spPr>
          <a:xfrm>
            <a:off x="6690208" y="1719072"/>
            <a:ext cx="461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[観点B／変更後]</a:t>
            </a:r>
            <a:endParaRPr lang="en-US" sz="1500" dirty="0"/>
          </a:p>
        </p:txBody>
      </p:sp>
      <p:sp>
        <p:nvSpPr>
          <p:cNvPr id="181" name="Text 10"/>
          <p:cNvSpPr/>
          <p:nvPr/>
        </p:nvSpPr>
        <p:spPr>
          <a:xfrm>
            <a:off x="6690208" y="2212848"/>
            <a:ext cx="4614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[比較項目1]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[比較項目2]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[比較項目3]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[留意点]</a:t>
            </a:r>
            <a:endParaRPr lang="en-US" sz="1200" dirty="0"/>
          </a:p>
        </p:txBody>
      </p:sp>
      <p:sp>
        <p:nvSpPr>
          <p:cNvPr id="182" name="Shape 11"/>
          <p:cNvSpPr/>
          <p:nvPr/>
        </p:nvSpPr>
        <p:spPr>
          <a:xfrm>
            <a:off x="566928" y="5358384"/>
            <a:ext cx="11057839" cy="475488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3" name="Text 12"/>
          <p:cNvSpPr/>
          <p:nvPr/>
        </p:nvSpPr>
        <p:spPr>
          <a:xfrm>
            <a:off x="768096" y="5413248"/>
            <a:ext cx="10655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[結論。だから次に何を決めるかを書く]</a:t>
            </a:r>
            <a:endParaRPr lang="en-US" sz="1400" dirty="0"/>
          </a:p>
        </p:txBody>
      </p:sp>
      <p:sp>
        <p:nvSpPr>
          <p:cNvPr id="184" name="Text 13"/>
          <p:cNvSpPr/>
          <p:nvPr/>
        </p:nvSpPr>
        <p:spPr>
          <a:xfrm>
            <a:off x="566928" y="607161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[出所／対象期間／母数 n=／基準日]。無い場合は ※要確認 と明記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0"/>
          <p:cNvSpPr/>
          <p:nvPr/>
        </p:nvSpPr>
        <p:spPr>
          <a:xfrm>
            <a:off x="566928" y="457200"/>
            <a:ext cx="64008" cy="384048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7" name="Text 1"/>
          <p:cNvSpPr/>
          <p:nvPr/>
        </p:nvSpPr>
        <p:spPr>
          <a:xfrm>
            <a:off x="768096" y="384048"/>
            <a:ext cx="108566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[タイトル]</a:t>
            </a:r>
            <a:endParaRPr lang="en-US" sz="3000" dirty="0"/>
          </a:p>
        </p:txBody>
      </p:sp>
      <p:sp>
        <p:nvSpPr>
          <p:cNvPr id="188" name="Text 2"/>
          <p:cNvSpPr/>
          <p:nvPr/>
        </p:nvSpPr>
        <p:spPr>
          <a:xfrm>
            <a:off x="768096" y="987552"/>
            <a:ext cx="108566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[三つの選択肢を同じ評価軸で並べる]</a:t>
            </a:r>
            <a:endParaRPr lang="en-US" sz="1300" dirty="0"/>
          </a:p>
        </p:txBody>
      </p:sp>
      <p:sp>
        <p:nvSpPr>
          <p:cNvPr id="189" name="Text 3"/>
          <p:cNvSpPr/>
          <p:nvPr/>
        </p:nvSpPr>
        <p:spPr>
          <a:xfrm>
            <a:off x="566928" y="63459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three-column  ｜  decision  ｜  三枠比較</a:t>
            </a:r>
            <a:endParaRPr lang="en-US" sz="900" dirty="0"/>
          </a:p>
        </p:txBody>
      </p:sp>
      <p:sp>
        <p:nvSpPr>
          <p:cNvPr id="190" name="Text 4"/>
          <p:cNvSpPr/>
          <p:nvPr/>
        </p:nvSpPr>
        <p:spPr>
          <a:xfrm>
            <a:off x="10524744" y="6345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900" dirty="0"/>
          </a:p>
        </p:txBody>
      </p:sp>
      <p:sp>
        <p:nvSpPr>
          <p:cNvPr id="191" name="Shape 5"/>
          <p:cNvSpPr/>
          <p:nvPr/>
        </p:nvSpPr>
        <p:spPr>
          <a:xfrm>
            <a:off x="566928" y="1481328"/>
            <a:ext cx="338114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92" name="Text 6"/>
          <p:cNvSpPr/>
          <p:nvPr/>
        </p:nvSpPr>
        <p:spPr>
          <a:xfrm>
            <a:off x="841248" y="1664208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[案A]</a:t>
            </a:r>
            <a:endParaRPr lang="en-US" sz="1100" dirty="0"/>
          </a:p>
        </p:txBody>
      </p:sp>
      <p:sp>
        <p:nvSpPr>
          <p:cNvPr id="193" name="Text 7"/>
          <p:cNvSpPr/>
          <p:nvPr/>
        </p:nvSpPr>
        <p:spPr>
          <a:xfrm>
            <a:off x="841248" y="1938528"/>
            <a:ext cx="28325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[適合条件]</a:t>
            </a:r>
            <a:endParaRPr lang="en-US" sz="1800" dirty="0"/>
          </a:p>
        </p:txBody>
      </p:sp>
      <p:sp>
        <p:nvSpPr>
          <p:cNvPr id="194" name="Text 8"/>
          <p:cNvSpPr/>
          <p:nvPr/>
        </p:nvSpPr>
        <p:spPr>
          <a:xfrm>
            <a:off x="841248" y="2487168"/>
            <a:ext cx="15578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[初期条件]</a:t>
            </a:r>
            <a:endParaRPr lang="en-US" sz="1100" dirty="0"/>
          </a:p>
        </p:txBody>
      </p:sp>
      <p:sp>
        <p:nvSpPr>
          <p:cNvPr id="195" name="Text 9"/>
          <p:cNvSpPr/>
          <p:nvPr/>
        </p:nvSpPr>
        <p:spPr>
          <a:xfrm>
            <a:off x="2399127" y="2487168"/>
            <a:ext cx="1274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[入力]</a:t>
            </a:r>
            <a:endParaRPr lang="en-US" sz="1200" dirty="0"/>
          </a:p>
        </p:txBody>
      </p:sp>
      <p:sp>
        <p:nvSpPr>
          <p:cNvPr id="196" name="Text 10"/>
          <p:cNvSpPr/>
          <p:nvPr/>
        </p:nvSpPr>
        <p:spPr>
          <a:xfrm>
            <a:off x="841248" y="2907792"/>
            <a:ext cx="15578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[運用負荷]</a:t>
            </a:r>
            <a:endParaRPr lang="en-US" sz="1100" dirty="0"/>
          </a:p>
        </p:txBody>
      </p:sp>
      <p:sp>
        <p:nvSpPr>
          <p:cNvPr id="197" name="Text 11"/>
          <p:cNvSpPr/>
          <p:nvPr/>
        </p:nvSpPr>
        <p:spPr>
          <a:xfrm>
            <a:off x="2399127" y="2907792"/>
            <a:ext cx="1274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[入力]</a:t>
            </a:r>
            <a:endParaRPr lang="en-US" sz="1200" dirty="0"/>
          </a:p>
        </p:txBody>
      </p:sp>
      <p:sp>
        <p:nvSpPr>
          <p:cNvPr id="198" name="Text 12"/>
          <p:cNvSpPr/>
          <p:nvPr/>
        </p:nvSpPr>
        <p:spPr>
          <a:xfrm>
            <a:off x="841248" y="3328416"/>
            <a:ext cx="15578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[拡張性]</a:t>
            </a:r>
            <a:endParaRPr lang="en-US" sz="1100" dirty="0"/>
          </a:p>
        </p:txBody>
      </p:sp>
      <p:sp>
        <p:nvSpPr>
          <p:cNvPr id="199" name="Text 13"/>
          <p:cNvSpPr/>
          <p:nvPr/>
        </p:nvSpPr>
        <p:spPr>
          <a:xfrm>
            <a:off x="2399127" y="3328416"/>
            <a:ext cx="1274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[入力]</a:t>
            </a:r>
            <a:endParaRPr lang="en-US" sz="1200" dirty="0"/>
          </a:p>
        </p:txBody>
      </p:sp>
      <p:sp>
        <p:nvSpPr>
          <p:cNvPr id="200" name="Text 14"/>
          <p:cNvSpPr/>
          <p:nvPr/>
        </p:nvSpPr>
        <p:spPr>
          <a:xfrm>
            <a:off x="841248" y="3749040"/>
            <a:ext cx="15578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[留意点]</a:t>
            </a:r>
            <a:endParaRPr lang="en-US" sz="1100" dirty="0"/>
          </a:p>
        </p:txBody>
      </p:sp>
      <p:sp>
        <p:nvSpPr>
          <p:cNvPr id="201" name="Text 15"/>
          <p:cNvSpPr/>
          <p:nvPr/>
        </p:nvSpPr>
        <p:spPr>
          <a:xfrm>
            <a:off x="2399127" y="3749040"/>
            <a:ext cx="1274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[入力]</a:t>
            </a:r>
            <a:endParaRPr lang="en-US" sz="1200" dirty="0"/>
          </a:p>
        </p:txBody>
      </p:sp>
      <p:sp>
        <p:nvSpPr>
          <p:cNvPr id="202" name="Shape 16"/>
          <p:cNvSpPr/>
          <p:nvPr/>
        </p:nvSpPr>
        <p:spPr>
          <a:xfrm>
            <a:off x="4405274" y="1481328"/>
            <a:ext cx="3381146" cy="2834640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3" name="Text 17"/>
          <p:cNvSpPr/>
          <p:nvPr/>
        </p:nvSpPr>
        <p:spPr>
          <a:xfrm>
            <a:off x="4679594" y="1664208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[案B／推奨]</a:t>
            </a:r>
            <a:endParaRPr lang="en-US" sz="1100" dirty="0"/>
          </a:p>
        </p:txBody>
      </p:sp>
      <p:sp>
        <p:nvSpPr>
          <p:cNvPr id="204" name="Text 18"/>
          <p:cNvSpPr/>
          <p:nvPr/>
        </p:nvSpPr>
        <p:spPr>
          <a:xfrm>
            <a:off x="4679594" y="1938528"/>
            <a:ext cx="28325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[適合条件]</a:t>
            </a:r>
            <a:endParaRPr lang="en-US" sz="1800" dirty="0"/>
          </a:p>
        </p:txBody>
      </p:sp>
      <p:sp>
        <p:nvSpPr>
          <p:cNvPr id="205" name="Text 19"/>
          <p:cNvSpPr/>
          <p:nvPr/>
        </p:nvSpPr>
        <p:spPr>
          <a:xfrm>
            <a:off x="4679594" y="2487168"/>
            <a:ext cx="15578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[初期条件]</a:t>
            </a:r>
            <a:endParaRPr lang="en-US" sz="1100" dirty="0"/>
          </a:p>
        </p:txBody>
      </p:sp>
      <p:sp>
        <p:nvSpPr>
          <p:cNvPr id="206" name="Text 20"/>
          <p:cNvSpPr/>
          <p:nvPr/>
        </p:nvSpPr>
        <p:spPr>
          <a:xfrm>
            <a:off x="6237473" y="2487168"/>
            <a:ext cx="1274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[入力]</a:t>
            </a:r>
            <a:endParaRPr lang="en-US" sz="1200" dirty="0"/>
          </a:p>
        </p:txBody>
      </p:sp>
      <p:sp>
        <p:nvSpPr>
          <p:cNvPr id="207" name="Text 21"/>
          <p:cNvSpPr/>
          <p:nvPr/>
        </p:nvSpPr>
        <p:spPr>
          <a:xfrm>
            <a:off x="4679594" y="2907792"/>
            <a:ext cx="15578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[運用負荷]</a:t>
            </a:r>
            <a:endParaRPr lang="en-US" sz="1100" dirty="0"/>
          </a:p>
        </p:txBody>
      </p:sp>
      <p:sp>
        <p:nvSpPr>
          <p:cNvPr id="208" name="Text 22"/>
          <p:cNvSpPr/>
          <p:nvPr/>
        </p:nvSpPr>
        <p:spPr>
          <a:xfrm>
            <a:off x="6237473" y="2907792"/>
            <a:ext cx="1274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[入力]</a:t>
            </a:r>
            <a:endParaRPr lang="en-US" sz="1200" dirty="0"/>
          </a:p>
        </p:txBody>
      </p:sp>
      <p:sp>
        <p:nvSpPr>
          <p:cNvPr id="209" name="Text 23"/>
          <p:cNvSpPr/>
          <p:nvPr/>
        </p:nvSpPr>
        <p:spPr>
          <a:xfrm>
            <a:off x="4679594" y="3328416"/>
            <a:ext cx="15578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[拡張性]</a:t>
            </a:r>
            <a:endParaRPr lang="en-US" sz="1100" dirty="0"/>
          </a:p>
        </p:txBody>
      </p:sp>
      <p:sp>
        <p:nvSpPr>
          <p:cNvPr id="210" name="Text 24"/>
          <p:cNvSpPr/>
          <p:nvPr/>
        </p:nvSpPr>
        <p:spPr>
          <a:xfrm>
            <a:off x="6237473" y="3328416"/>
            <a:ext cx="1274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[入力]</a:t>
            </a:r>
            <a:endParaRPr lang="en-US" sz="1200" dirty="0"/>
          </a:p>
        </p:txBody>
      </p:sp>
      <p:sp>
        <p:nvSpPr>
          <p:cNvPr id="211" name="Text 25"/>
          <p:cNvSpPr/>
          <p:nvPr/>
        </p:nvSpPr>
        <p:spPr>
          <a:xfrm>
            <a:off x="4679594" y="3749040"/>
            <a:ext cx="15578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[留意点]</a:t>
            </a:r>
            <a:endParaRPr lang="en-US" sz="1100" dirty="0"/>
          </a:p>
        </p:txBody>
      </p:sp>
      <p:sp>
        <p:nvSpPr>
          <p:cNvPr id="212" name="Text 26"/>
          <p:cNvSpPr/>
          <p:nvPr/>
        </p:nvSpPr>
        <p:spPr>
          <a:xfrm>
            <a:off x="6237473" y="3749040"/>
            <a:ext cx="1274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[入力]</a:t>
            </a:r>
            <a:endParaRPr lang="en-US" sz="1200" dirty="0"/>
          </a:p>
        </p:txBody>
      </p:sp>
      <p:sp>
        <p:nvSpPr>
          <p:cNvPr id="213" name="Shape 27"/>
          <p:cNvSpPr/>
          <p:nvPr/>
        </p:nvSpPr>
        <p:spPr>
          <a:xfrm>
            <a:off x="8243621" y="1481328"/>
            <a:ext cx="338114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14" name="Text 28"/>
          <p:cNvSpPr/>
          <p:nvPr/>
        </p:nvSpPr>
        <p:spPr>
          <a:xfrm>
            <a:off x="8517941" y="1664208"/>
            <a:ext cx="2832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[案C]</a:t>
            </a:r>
            <a:endParaRPr lang="en-US" sz="1100" dirty="0"/>
          </a:p>
        </p:txBody>
      </p:sp>
      <p:sp>
        <p:nvSpPr>
          <p:cNvPr id="215" name="Text 29"/>
          <p:cNvSpPr/>
          <p:nvPr/>
        </p:nvSpPr>
        <p:spPr>
          <a:xfrm>
            <a:off x="8517941" y="1938528"/>
            <a:ext cx="28325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[適合条件]</a:t>
            </a:r>
            <a:endParaRPr lang="en-US" sz="1800" dirty="0"/>
          </a:p>
        </p:txBody>
      </p:sp>
      <p:sp>
        <p:nvSpPr>
          <p:cNvPr id="216" name="Text 30"/>
          <p:cNvSpPr/>
          <p:nvPr/>
        </p:nvSpPr>
        <p:spPr>
          <a:xfrm>
            <a:off x="8517941" y="2487168"/>
            <a:ext cx="15578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[初期条件]</a:t>
            </a:r>
            <a:endParaRPr lang="en-US" sz="1100" dirty="0"/>
          </a:p>
        </p:txBody>
      </p:sp>
      <p:sp>
        <p:nvSpPr>
          <p:cNvPr id="217" name="Text 31"/>
          <p:cNvSpPr/>
          <p:nvPr/>
        </p:nvSpPr>
        <p:spPr>
          <a:xfrm>
            <a:off x="10075819" y="2487168"/>
            <a:ext cx="1274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[入力]</a:t>
            </a:r>
            <a:endParaRPr lang="en-US" sz="1200" dirty="0"/>
          </a:p>
        </p:txBody>
      </p:sp>
      <p:sp>
        <p:nvSpPr>
          <p:cNvPr id="218" name="Text 32"/>
          <p:cNvSpPr/>
          <p:nvPr/>
        </p:nvSpPr>
        <p:spPr>
          <a:xfrm>
            <a:off x="8517941" y="2907792"/>
            <a:ext cx="15578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[運用負荷]</a:t>
            </a:r>
            <a:endParaRPr lang="en-US" sz="1100" dirty="0"/>
          </a:p>
        </p:txBody>
      </p:sp>
      <p:sp>
        <p:nvSpPr>
          <p:cNvPr id="219" name="Text 33"/>
          <p:cNvSpPr/>
          <p:nvPr/>
        </p:nvSpPr>
        <p:spPr>
          <a:xfrm>
            <a:off x="10075819" y="2907792"/>
            <a:ext cx="1274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[入力]</a:t>
            </a:r>
            <a:endParaRPr lang="en-US" sz="1200" dirty="0"/>
          </a:p>
        </p:txBody>
      </p:sp>
      <p:sp>
        <p:nvSpPr>
          <p:cNvPr id="220" name="Text 34"/>
          <p:cNvSpPr/>
          <p:nvPr/>
        </p:nvSpPr>
        <p:spPr>
          <a:xfrm>
            <a:off x="8517941" y="3328416"/>
            <a:ext cx="15578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[拡張性]</a:t>
            </a:r>
            <a:endParaRPr lang="en-US" sz="1100" dirty="0"/>
          </a:p>
        </p:txBody>
      </p:sp>
      <p:sp>
        <p:nvSpPr>
          <p:cNvPr id="221" name="Text 35"/>
          <p:cNvSpPr/>
          <p:nvPr/>
        </p:nvSpPr>
        <p:spPr>
          <a:xfrm>
            <a:off x="10075819" y="3328416"/>
            <a:ext cx="1274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[入力]</a:t>
            </a:r>
            <a:endParaRPr lang="en-US" sz="1200" dirty="0"/>
          </a:p>
        </p:txBody>
      </p:sp>
      <p:sp>
        <p:nvSpPr>
          <p:cNvPr id="222" name="Text 36"/>
          <p:cNvSpPr/>
          <p:nvPr/>
        </p:nvSpPr>
        <p:spPr>
          <a:xfrm>
            <a:off x="8517941" y="3749040"/>
            <a:ext cx="15578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[留意点]</a:t>
            </a:r>
            <a:endParaRPr lang="en-US" sz="1100" dirty="0"/>
          </a:p>
        </p:txBody>
      </p:sp>
      <p:sp>
        <p:nvSpPr>
          <p:cNvPr id="223" name="Text 37"/>
          <p:cNvSpPr/>
          <p:nvPr/>
        </p:nvSpPr>
        <p:spPr>
          <a:xfrm>
            <a:off x="10075819" y="3749040"/>
            <a:ext cx="1274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[入力]</a:t>
            </a:r>
            <a:endParaRPr lang="en-US" sz="1200" dirty="0"/>
          </a:p>
        </p:txBody>
      </p:sp>
      <p:sp>
        <p:nvSpPr>
          <p:cNvPr id="224" name="Shape 38"/>
          <p:cNvSpPr/>
          <p:nvPr/>
        </p:nvSpPr>
        <p:spPr>
          <a:xfrm>
            <a:off x="566928" y="5358384"/>
            <a:ext cx="11057839" cy="475488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5" name="Text 39"/>
          <p:cNvSpPr/>
          <p:nvPr/>
        </p:nvSpPr>
        <p:spPr>
          <a:xfrm>
            <a:off x="768096" y="5413248"/>
            <a:ext cx="10655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[結論。だから次に何を決めるかを書く]</a:t>
            </a:r>
            <a:endParaRPr lang="en-US" sz="1400" dirty="0"/>
          </a:p>
        </p:txBody>
      </p:sp>
      <p:sp>
        <p:nvSpPr>
          <p:cNvPr id="226" name="Text 40"/>
          <p:cNvSpPr/>
          <p:nvPr/>
        </p:nvSpPr>
        <p:spPr>
          <a:xfrm>
            <a:off x="566928" y="607161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[出所／対象期間／母数 n=／基準日]。無い場合は ※要確認 と明記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2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0"/>
          <p:cNvSpPr/>
          <p:nvPr/>
        </p:nvSpPr>
        <p:spPr>
          <a:xfrm>
            <a:off x="566928" y="457200"/>
            <a:ext cx="64008" cy="384048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9" name="Text 1"/>
          <p:cNvSpPr/>
          <p:nvPr/>
        </p:nvSpPr>
        <p:spPr>
          <a:xfrm>
            <a:off x="768096" y="384048"/>
            <a:ext cx="108566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[タイトル]</a:t>
            </a:r>
            <a:endParaRPr lang="en-US" sz="3000" dirty="0"/>
          </a:p>
        </p:txBody>
      </p:sp>
      <p:sp>
        <p:nvSpPr>
          <p:cNvPr id="230" name="Text 2"/>
          <p:cNvSpPr/>
          <p:nvPr/>
        </p:nvSpPr>
        <p:spPr>
          <a:xfrm>
            <a:off x="768096" y="987552"/>
            <a:ext cx="108566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[評価軸・重み・判定を一つの表で示す]</a:t>
            </a:r>
            <a:endParaRPr lang="en-US" sz="1300" dirty="0"/>
          </a:p>
        </p:txBody>
      </p:sp>
      <p:sp>
        <p:nvSpPr>
          <p:cNvPr id="231" name="Text 3"/>
          <p:cNvSpPr/>
          <p:nvPr/>
        </p:nvSpPr>
        <p:spPr>
          <a:xfrm>
            <a:off x="566928" y="63459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table-insight  ｜  decision  ｜  評価表＋示唆</a:t>
            </a:r>
            <a:endParaRPr lang="en-US" sz="900" dirty="0"/>
          </a:p>
        </p:txBody>
      </p:sp>
      <p:sp>
        <p:nvSpPr>
          <p:cNvPr id="232" name="Text 4"/>
          <p:cNvSpPr/>
          <p:nvPr/>
        </p:nvSpPr>
        <p:spPr>
          <a:xfrm>
            <a:off x="10524744" y="6345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2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097280"/>
                <a:gridCol w="2340864"/>
                <a:gridCol w="2340864"/>
                <a:gridCol w="2352751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評価軸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重み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[候補A]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[候補B]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[候補C]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[評価軸]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[00%]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[判定]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[判定]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[判定]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[評価軸]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[00%]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[判定]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[判定]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[判定]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[評価軸]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[00%]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[判定]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[判定]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[判定]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[評価軸]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[00%]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[判定]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[判定]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[判定]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[評価軸]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[00%]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[判定]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[判定]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[判定]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4" name="Text 5"/>
          <p:cNvSpPr/>
          <p:nvPr/>
        </p:nvSpPr>
        <p:spPr>
          <a:xfrm>
            <a:off x="566928" y="4498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総合評価と推奨理由</a:t>
            </a:r>
            <a:endParaRPr lang="en-US" sz="1200" dirty="0"/>
          </a:p>
        </p:txBody>
      </p:sp>
      <p:sp>
        <p:nvSpPr>
          <p:cNvPr id="235" name="Text 6"/>
          <p:cNvSpPr/>
          <p:nvPr/>
        </p:nvSpPr>
        <p:spPr>
          <a:xfrm>
            <a:off x="566928" y="48463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[落選案がなぜ落ちたかまで書く]</a:t>
            </a:r>
            <a:endParaRPr lang="en-US" sz="1200" dirty="0"/>
          </a:p>
        </p:txBody>
      </p:sp>
      <p:sp>
        <p:nvSpPr>
          <p:cNvPr id="236" name="Shape 7"/>
          <p:cNvSpPr/>
          <p:nvPr/>
        </p:nvSpPr>
        <p:spPr>
          <a:xfrm>
            <a:off x="566928" y="5358384"/>
            <a:ext cx="11057839" cy="475488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7" name="Text 8"/>
          <p:cNvSpPr/>
          <p:nvPr/>
        </p:nvSpPr>
        <p:spPr>
          <a:xfrm>
            <a:off x="768096" y="5413248"/>
            <a:ext cx="10655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[結論。だから次に何を決めるかを書く]</a:t>
            </a:r>
            <a:endParaRPr lang="en-US" sz="1400" dirty="0"/>
          </a:p>
        </p:txBody>
      </p:sp>
      <p:sp>
        <p:nvSpPr>
          <p:cNvPr id="238" name="Text 9"/>
          <p:cNvSpPr/>
          <p:nvPr/>
        </p:nvSpPr>
        <p:spPr>
          <a:xfrm>
            <a:off x="566928" y="607161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[出所／対象期間／母数 n=／基準日]。無い場合は ※要確認 と明記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2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0"/>
          <p:cNvSpPr/>
          <p:nvPr/>
        </p:nvSpPr>
        <p:spPr>
          <a:xfrm>
            <a:off x="566928" y="457200"/>
            <a:ext cx="64008" cy="384048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1" name="Text 1"/>
          <p:cNvSpPr/>
          <p:nvPr/>
        </p:nvSpPr>
        <p:spPr>
          <a:xfrm>
            <a:off x="768096" y="384048"/>
            <a:ext cx="108566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[タイトル]</a:t>
            </a:r>
            <a:endParaRPr lang="en-US" sz="3000" dirty="0"/>
          </a:p>
        </p:txBody>
      </p:sp>
      <p:sp>
        <p:nvSpPr>
          <p:cNvPr id="242" name="Text 2"/>
          <p:cNvSpPr/>
          <p:nvPr/>
        </p:nvSpPr>
        <p:spPr>
          <a:xfrm>
            <a:off x="768096" y="987552"/>
            <a:ext cx="108566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[二つの軸で選択肢の位置づけを示す]</a:t>
            </a:r>
            <a:endParaRPr lang="en-US" sz="1300" dirty="0"/>
          </a:p>
        </p:txBody>
      </p:sp>
      <p:sp>
        <p:nvSpPr>
          <p:cNvPr id="243" name="Text 3"/>
          <p:cNvSpPr/>
          <p:nvPr/>
        </p:nvSpPr>
        <p:spPr>
          <a:xfrm>
            <a:off x="566928" y="63459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matrix-2x2  ｜  decision  ｜  2×2マトリクス</a:t>
            </a:r>
            <a:endParaRPr lang="en-US" sz="900" dirty="0"/>
          </a:p>
        </p:txBody>
      </p:sp>
      <p:sp>
        <p:nvSpPr>
          <p:cNvPr id="244" name="Text 4"/>
          <p:cNvSpPr/>
          <p:nvPr/>
        </p:nvSpPr>
        <p:spPr>
          <a:xfrm>
            <a:off x="10524744" y="6345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900" dirty="0"/>
          </a:p>
        </p:txBody>
      </p:sp>
      <p:sp>
        <p:nvSpPr>
          <p:cNvPr id="245" name="Shape 5"/>
          <p:cNvSpPr/>
          <p:nvPr/>
        </p:nvSpPr>
        <p:spPr>
          <a:xfrm>
            <a:off x="704088" y="1828800"/>
            <a:ext cx="7315200" cy="306324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6" name="Shape 6"/>
          <p:cNvSpPr/>
          <p:nvPr/>
        </p:nvSpPr>
        <p:spPr>
          <a:xfrm>
            <a:off x="4348988" y="1828800"/>
            <a:ext cx="254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7" name="Shape 7"/>
          <p:cNvSpPr/>
          <p:nvPr/>
        </p:nvSpPr>
        <p:spPr>
          <a:xfrm>
            <a:off x="704088" y="3347720"/>
            <a:ext cx="7315200" cy="2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8" name="Text 8"/>
          <p:cNvSpPr/>
          <p:nvPr/>
        </p:nvSpPr>
        <p:spPr>
          <a:xfrm>
            <a:off x="566928" y="14996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縦軸: [定義]（上ほど大）</a:t>
            </a:r>
            <a:endParaRPr lang="en-US" sz="1000" dirty="0"/>
          </a:p>
        </p:txBody>
      </p:sp>
      <p:sp>
        <p:nvSpPr>
          <p:cNvPr id="249" name="Text 9"/>
          <p:cNvSpPr/>
          <p:nvPr/>
        </p:nvSpPr>
        <p:spPr>
          <a:xfrm>
            <a:off x="704088" y="50200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横軸: [定義]（右ほど大）</a:t>
            </a:r>
            <a:endParaRPr lang="en-US" sz="1000" dirty="0"/>
          </a:p>
        </p:txBody>
      </p:sp>
      <p:sp>
        <p:nvSpPr>
          <p:cNvPr id="250" name="Text 10"/>
          <p:cNvSpPr/>
          <p:nvPr/>
        </p:nvSpPr>
        <p:spPr>
          <a:xfrm>
            <a:off x="850392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優先着手</a:t>
            </a:r>
            <a:endParaRPr lang="en-US" sz="1200" dirty="0"/>
          </a:p>
        </p:txBody>
      </p:sp>
      <p:sp>
        <p:nvSpPr>
          <p:cNvPr id="251" name="Text 11"/>
          <p:cNvSpPr/>
          <p:nvPr/>
        </p:nvSpPr>
        <p:spPr>
          <a:xfrm>
            <a:off x="5678424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計画的に投資</a:t>
            </a:r>
            <a:endParaRPr lang="en-US" sz="1200" dirty="0"/>
          </a:p>
        </p:txBody>
      </p:sp>
      <p:sp>
        <p:nvSpPr>
          <p:cNvPr id="252" name="Text 12"/>
          <p:cNvSpPr/>
          <p:nvPr/>
        </p:nvSpPr>
        <p:spPr>
          <a:xfrm>
            <a:off x="850392" y="4526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余力で対応</a:t>
            </a:r>
            <a:endParaRPr lang="en-US" sz="1200" dirty="0"/>
          </a:p>
        </p:txBody>
      </p:sp>
      <p:sp>
        <p:nvSpPr>
          <p:cNvPr id="253" name="Text 13"/>
          <p:cNvSpPr/>
          <p:nvPr/>
        </p:nvSpPr>
        <p:spPr>
          <a:xfrm>
            <a:off x="6044184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見送り</a:t>
            </a:r>
            <a:endParaRPr lang="en-US" sz="1200" dirty="0"/>
          </a:p>
        </p:txBody>
      </p:sp>
      <p:sp>
        <p:nvSpPr>
          <p:cNvPr id="254" name="Text 14"/>
          <p:cNvSpPr/>
          <p:nvPr/>
        </p:nvSpPr>
        <p:spPr>
          <a:xfrm>
            <a:off x="1594104" y="2365248"/>
            <a:ext cx="32308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7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255" name="Text 15"/>
          <p:cNvSpPr/>
          <p:nvPr/>
        </p:nvSpPr>
        <p:spPr>
          <a:xfrm>
            <a:off x="2029968" y="24140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[候補]</a:t>
            </a:r>
            <a:endParaRPr lang="en-US" sz="1100" dirty="0"/>
          </a:p>
        </p:txBody>
      </p:sp>
      <p:sp>
        <p:nvSpPr>
          <p:cNvPr id="256" name="Text 16"/>
          <p:cNvSpPr/>
          <p:nvPr/>
        </p:nvSpPr>
        <p:spPr>
          <a:xfrm>
            <a:off x="2051304" y="2859024"/>
            <a:ext cx="32308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7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257" name="Text 17"/>
          <p:cNvSpPr/>
          <p:nvPr/>
        </p:nvSpPr>
        <p:spPr>
          <a:xfrm>
            <a:off x="2487168" y="29077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[候補]</a:t>
            </a:r>
            <a:endParaRPr lang="en-US" sz="1100" dirty="0"/>
          </a:p>
        </p:txBody>
      </p:sp>
      <p:sp>
        <p:nvSpPr>
          <p:cNvPr id="258" name="Text 18"/>
          <p:cNvSpPr/>
          <p:nvPr/>
        </p:nvSpPr>
        <p:spPr>
          <a:xfrm>
            <a:off x="4611624" y="2365248"/>
            <a:ext cx="32308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259" name="Text 19"/>
          <p:cNvSpPr/>
          <p:nvPr/>
        </p:nvSpPr>
        <p:spPr>
          <a:xfrm>
            <a:off x="5047488" y="24140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[候補]</a:t>
            </a:r>
            <a:endParaRPr lang="en-US" sz="1100" dirty="0"/>
          </a:p>
        </p:txBody>
      </p:sp>
      <p:sp>
        <p:nvSpPr>
          <p:cNvPr id="260" name="Text 20"/>
          <p:cNvSpPr/>
          <p:nvPr/>
        </p:nvSpPr>
        <p:spPr>
          <a:xfrm>
            <a:off x="5068824" y="2859024"/>
            <a:ext cx="32308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261" name="Text 21"/>
          <p:cNvSpPr/>
          <p:nvPr/>
        </p:nvSpPr>
        <p:spPr>
          <a:xfrm>
            <a:off x="5504688" y="29077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[候補]</a:t>
            </a:r>
            <a:endParaRPr lang="en-US" sz="1100" dirty="0"/>
          </a:p>
        </p:txBody>
      </p:sp>
      <p:sp>
        <p:nvSpPr>
          <p:cNvPr id="262" name="Text 22"/>
          <p:cNvSpPr/>
          <p:nvPr/>
        </p:nvSpPr>
        <p:spPr>
          <a:xfrm>
            <a:off x="1502664" y="3791712"/>
            <a:ext cx="32308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263" name="Text 23"/>
          <p:cNvSpPr/>
          <p:nvPr/>
        </p:nvSpPr>
        <p:spPr>
          <a:xfrm>
            <a:off x="1938528" y="38404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[候補]</a:t>
            </a:r>
            <a:endParaRPr lang="en-US" sz="1100" dirty="0"/>
          </a:p>
        </p:txBody>
      </p:sp>
      <p:sp>
        <p:nvSpPr>
          <p:cNvPr id="264" name="Text 24"/>
          <p:cNvSpPr/>
          <p:nvPr/>
        </p:nvSpPr>
        <p:spPr>
          <a:xfrm>
            <a:off x="4885944" y="3919728"/>
            <a:ext cx="32308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265" name="Text 25"/>
          <p:cNvSpPr/>
          <p:nvPr/>
        </p:nvSpPr>
        <p:spPr>
          <a:xfrm>
            <a:off x="5321808" y="39684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[候補]</a:t>
            </a:r>
            <a:endParaRPr lang="en-US" sz="1100" dirty="0"/>
          </a:p>
        </p:txBody>
      </p:sp>
      <p:sp>
        <p:nvSpPr>
          <p:cNvPr id="266" name="Text 26"/>
          <p:cNvSpPr/>
          <p:nvPr/>
        </p:nvSpPr>
        <p:spPr>
          <a:xfrm>
            <a:off x="8275320" y="15727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読み取るべきこと</a:t>
            </a:r>
            <a:endParaRPr lang="en-US" sz="1200" dirty="0"/>
          </a:p>
        </p:txBody>
      </p:sp>
      <p:sp>
        <p:nvSpPr>
          <p:cNvPr id="267" name="Text 27"/>
          <p:cNvSpPr/>
          <p:nvPr/>
        </p:nvSpPr>
        <p:spPr>
          <a:xfrm>
            <a:off x="8275320" y="1984248"/>
            <a:ext cx="3337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95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[集中領域]</a:t>
            </a:r>
            <a:endParaRPr lang="en-US" sz="1100" dirty="0"/>
          </a:p>
          <a:p>
            <a:pPr marL="342900" indent="-342900">
              <a:lnSpc>
                <a:spcPts val="1595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[優先順位]</a:t>
            </a:r>
            <a:endParaRPr lang="en-US" sz="1100" dirty="0"/>
          </a:p>
          <a:p>
            <a:pPr marL="342900" indent="-342900">
              <a:lnSpc>
                <a:spcPts val="1595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[例外条件]</a:t>
            </a:r>
            <a:endParaRPr lang="en-US" sz="1100" dirty="0"/>
          </a:p>
          <a:p>
            <a:pPr marL="342900" indent="-342900">
              <a:lnSpc>
                <a:spcPts val="1595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[次の判断]</a:t>
            </a:r>
            <a:endParaRPr lang="en-US" sz="1100" dirty="0"/>
          </a:p>
        </p:txBody>
      </p:sp>
      <p:sp>
        <p:nvSpPr>
          <p:cNvPr id="268" name="Shape 28"/>
          <p:cNvSpPr/>
          <p:nvPr/>
        </p:nvSpPr>
        <p:spPr>
          <a:xfrm>
            <a:off x="566928" y="5358384"/>
            <a:ext cx="11057839" cy="475488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9" name="Text 29"/>
          <p:cNvSpPr/>
          <p:nvPr/>
        </p:nvSpPr>
        <p:spPr>
          <a:xfrm>
            <a:off x="768096" y="5413248"/>
            <a:ext cx="10655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[結論。だから次に何を決めるかを書く]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2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0"/>
          <p:cNvSpPr/>
          <p:nvPr/>
        </p:nvSpPr>
        <p:spPr>
          <a:xfrm>
            <a:off x="566928" y="457200"/>
            <a:ext cx="64008" cy="384048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2" name="Text 1"/>
          <p:cNvSpPr/>
          <p:nvPr/>
        </p:nvSpPr>
        <p:spPr>
          <a:xfrm>
            <a:off x="768096" y="384048"/>
            <a:ext cx="108566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[タイトル]</a:t>
            </a:r>
            <a:endParaRPr lang="en-US" sz="3000" dirty="0"/>
          </a:p>
        </p:txBody>
      </p:sp>
      <p:sp>
        <p:nvSpPr>
          <p:cNvPr id="273" name="Text 2"/>
          <p:cNvSpPr/>
          <p:nvPr/>
        </p:nvSpPr>
        <p:spPr>
          <a:xfrm>
            <a:off x="768096" y="987552"/>
            <a:ext cx="108566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[利点・懸念・採用条件を分けて示す]</a:t>
            </a:r>
            <a:endParaRPr lang="en-US" sz="1300" dirty="0"/>
          </a:p>
        </p:txBody>
      </p:sp>
      <p:sp>
        <p:nvSpPr>
          <p:cNvPr id="274" name="Text 3"/>
          <p:cNvSpPr/>
          <p:nvPr/>
        </p:nvSpPr>
        <p:spPr>
          <a:xfrm>
            <a:off x="566928" y="63459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pros-cons  ｜  decision  ｜  利点と懸念</a:t>
            </a:r>
            <a:endParaRPr lang="en-US" sz="900" dirty="0"/>
          </a:p>
        </p:txBody>
      </p:sp>
      <p:sp>
        <p:nvSpPr>
          <p:cNvPr id="275" name="Text 4"/>
          <p:cNvSpPr/>
          <p:nvPr/>
        </p:nvSpPr>
        <p:spPr>
          <a:xfrm>
            <a:off x="10524744" y="6345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900" dirty="0"/>
          </a:p>
        </p:txBody>
      </p:sp>
      <p:sp>
        <p:nvSpPr>
          <p:cNvPr id="276" name="Shape 5"/>
          <p:cNvSpPr/>
          <p:nvPr/>
        </p:nvSpPr>
        <p:spPr>
          <a:xfrm>
            <a:off x="566928" y="1481328"/>
            <a:ext cx="5277460" cy="22860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7" name="Text 6"/>
          <p:cNvSpPr/>
          <p:nvPr/>
        </p:nvSpPr>
        <p:spPr>
          <a:xfrm>
            <a:off x="859536" y="1682496"/>
            <a:ext cx="46922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利点</a:t>
            </a:r>
            <a:endParaRPr lang="en-US" sz="1400" dirty="0"/>
          </a:p>
        </p:txBody>
      </p:sp>
      <p:sp>
        <p:nvSpPr>
          <p:cNvPr id="278" name="Text 7"/>
          <p:cNvSpPr/>
          <p:nvPr/>
        </p:nvSpPr>
        <p:spPr>
          <a:xfrm>
            <a:off x="859536" y="2121408"/>
            <a:ext cx="46922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[項目1]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[項目2]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[項目3]</a:t>
            </a:r>
            <a:endParaRPr lang="en-US" sz="1200" dirty="0"/>
          </a:p>
        </p:txBody>
      </p:sp>
      <p:sp>
        <p:nvSpPr>
          <p:cNvPr id="279" name="Shape 8"/>
          <p:cNvSpPr/>
          <p:nvPr/>
        </p:nvSpPr>
        <p:spPr>
          <a:xfrm>
            <a:off x="6347308" y="1481328"/>
            <a:ext cx="5277460" cy="2286000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0" name="Text 9"/>
          <p:cNvSpPr/>
          <p:nvPr/>
        </p:nvSpPr>
        <p:spPr>
          <a:xfrm>
            <a:off x="6639916" y="1682496"/>
            <a:ext cx="46922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懸念</a:t>
            </a:r>
            <a:endParaRPr lang="en-US" sz="1400" dirty="0"/>
          </a:p>
        </p:txBody>
      </p:sp>
      <p:sp>
        <p:nvSpPr>
          <p:cNvPr id="281" name="Text 10"/>
          <p:cNvSpPr/>
          <p:nvPr/>
        </p:nvSpPr>
        <p:spPr>
          <a:xfrm>
            <a:off x="6639916" y="2121408"/>
            <a:ext cx="46922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[項目1]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[項目2]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[項目3]</a:t>
            </a:r>
            <a:endParaRPr lang="en-US" sz="1200" dirty="0"/>
          </a:p>
        </p:txBody>
      </p:sp>
      <p:sp>
        <p:nvSpPr>
          <p:cNvPr id="282" name="Shape 11"/>
          <p:cNvSpPr/>
          <p:nvPr/>
        </p:nvSpPr>
        <p:spPr>
          <a:xfrm>
            <a:off x="566928" y="4041648"/>
            <a:ext cx="11057839" cy="82296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3" name="Text 12"/>
          <p:cNvSpPr/>
          <p:nvPr/>
        </p:nvSpPr>
        <p:spPr>
          <a:xfrm>
            <a:off x="859536" y="4151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採用条件</a:t>
            </a:r>
            <a:endParaRPr lang="en-US" sz="1200" dirty="0"/>
          </a:p>
        </p:txBody>
      </p:sp>
      <p:sp>
        <p:nvSpPr>
          <p:cNvPr id="284" name="Text 13"/>
          <p:cNvSpPr/>
          <p:nvPr/>
        </p:nvSpPr>
        <p:spPr>
          <a:xfrm>
            <a:off x="859536" y="4462272"/>
            <a:ext cx="104726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[採用する場合の前提・条件。測定できる形で書く]</a:t>
            </a:r>
            <a:endParaRPr lang="en-US" sz="1200" dirty="0"/>
          </a:p>
        </p:txBody>
      </p:sp>
      <p:sp>
        <p:nvSpPr>
          <p:cNvPr id="285" name="Shape 14"/>
          <p:cNvSpPr/>
          <p:nvPr/>
        </p:nvSpPr>
        <p:spPr>
          <a:xfrm>
            <a:off x="566928" y="5358384"/>
            <a:ext cx="11057839" cy="475488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6" name="Text 15"/>
          <p:cNvSpPr/>
          <p:nvPr/>
        </p:nvSpPr>
        <p:spPr>
          <a:xfrm>
            <a:off x="768096" y="5413248"/>
            <a:ext cx="10655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[結論。だから次に何を決めるかを書く]</a:t>
            </a:r>
            <a:endParaRPr lang="en-US" sz="1400" dirty="0"/>
          </a:p>
        </p:txBody>
      </p:sp>
      <p:sp>
        <p:nvSpPr>
          <p:cNvPr id="287" name="Text 16"/>
          <p:cNvSpPr/>
          <p:nvPr/>
        </p:nvSpPr>
        <p:spPr>
          <a:xfrm>
            <a:off x="566928" y="607161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[出所／対象期間／母数 n=／基準日]。無い場合は ※要確認 と明記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2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0"/>
          <p:cNvSpPr/>
          <p:nvPr/>
        </p:nvSpPr>
        <p:spPr>
          <a:xfrm>
            <a:off x="566928" y="457200"/>
            <a:ext cx="64008" cy="384048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0" name="Text 1"/>
          <p:cNvSpPr/>
          <p:nvPr/>
        </p:nvSpPr>
        <p:spPr>
          <a:xfrm>
            <a:off x="768096" y="384048"/>
            <a:ext cx="108566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[タイトル]</a:t>
            </a:r>
            <a:endParaRPr lang="en-US" sz="3000" dirty="0"/>
          </a:p>
        </p:txBody>
      </p:sp>
      <p:sp>
        <p:nvSpPr>
          <p:cNvPr id="291" name="Text 2"/>
          <p:cNvSpPr/>
          <p:nvPr/>
        </p:nvSpPr>
        <p:spPr>
          <a:xfrm>
            <a:off x="768096" y="987552"/>
            <a:ext cx="108566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[変更前後の差と、その効果を示す]</a:t>
            </a:r>
            <a:endParaRPr lang="en-US" sz="1300" dirty="0"/>
          </a:p>
        </p:txBody>
      </p:sp>
      <p:sp>
        <p:nvSpPr>
          <p:cNvPr id="292" name="Text 3"/>
          <p:cNvSpPr/>
          <p:nvPr/>
        </p:nvSpPr>
        <p:spPr>
          <a:xfrm>
            <a:off x="566928" y="63459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before-after  ｜  decision  ｜  変更前後</a:t>
            </a:r>
            <a:endParaRPr lang="en-US" sz="900" dirty="0"/>
          </a:p>
        </p:txBody>
      </p:sp>
      <p:sp>
        <p:nvSpPr>
          <p:cNvPr id="293" name="Text 4"/>
          <p:cNvSpPr/>
          <p:nvPr/>
        </p:nvSpPr>
        <p:spPr>
          <a:xfrm>
            <a:off x="10524744" y="6345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900" dirty="0"/>
          </a:p>
        </p:txBody>
      </p:sp>
      <p:sp>
        <p:nvSpPr>
          <p:cNvPr id="294" name="Shape 5"/>
          <p:cNvSpPr/>
          <p:nvPr/>
        </p:nvSpPr>
        <p:spPr>
          <a:xfrm>
            <a:off x="566928" y="1481328"/>
            <a:ext cx="3350666" cy="265176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5" name="Text 6"/>
          <p:cNvSpPr/>
          <p:nvPr/>
        </p:nvSpPr>
        <p:spPr>
          <a:xfrm>
            <a:off x="859536" y="1700784"/>
            <a:ext cx="27654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[従来／Before]</a:t>
            </a:r>
            <a:endParaRPr lang="en-US" sz="1400" dirty="0"/>
          </a:p>
        </p:txBody>
      </p:sp>
      <p:sp>
        <p:nvSpPr>
          <p:cNvPr id="296" name="Text 7"/>
          <p:cNvSpPr/>
          <p:nvPr/>
        </p:nvSpPr>
        <p:spPr>
          <a:xfrm>
            <a:off x="859536" y="2157984"/>
            <a:ext cx="276545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[項目1]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[項目2]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[項目3]</a:t>
            </a:r>
            <a:endParaRPr lang="en-US" sz="1200" dirty="0"/>
          </a:p>
        </p:txBody>
      </p:sp>
      <p:sp>
        <p:nvSpPr>
          <p:cNvPr id="297" name="Shape 8"/>
          <p:cNvSpPr/>
          <p:nvPr/>
        </p:nvSpPr>
        <p:spPr>
          <a:xfrm>
            <a:off x="4420514" y="1481328"/>
            <a:ext cx="3350666" cy="265176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8" name="Text 9"/>
          <p:cNvSpPr/>
          <p:nvPr/>
        </p:nvSpPr>
        <p:spPr>
          <a:xfrm>
            <a:off x="4713122" y="1700784"/>
            <a:ext cx="27654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[変化]</a:t>
            </a:r>
            <a:endParaRPr lang="en-US" sz="1400" dirty="0"/>
          </a:p>
        </p:txBody>
      </p:sp>
      <p:sp>
        <p:nvSpPr>
          <p:cNvPr id="299" name="Text 10"/>
          <p:cNvSpPr/>
          <p:nvPr/>
        </p:nvSpPr>
        <p:spPr>
          <a:xfrm>
            <a:off x="4713122" y="2157984"/>
            <a:ext cx="276545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[項目1]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[項目2]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[項目3]</a:t>
            </a:r>
            <a:endParaRPr lang="en-US" sz="1200" dirty="0"/>
          </a:p>
        </p:txBody>
      </p:sp>
      <p:sp>
        <p:nvSpPr>
          <p:cNvPr id="300" name="Shape 11"/>
          <p:cNvSpPr/>
          <p:nvPr/>
        </p:nvSpPr>
        <p:spPr>
          <a:xfrm>
            <a:off x="8274101" y="1481328"/>
            <a:ext cx="3350666" cy="2651760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1" name="Text 12"/>
          <p:cNvSpPr/>
          <p:nvPr/>
        </p:nvSpPr>
        <p:spPr>
          <a:xfrm>
            <a:off x="8566709" y="1700784"/>
            <a:ext cx="27654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[現在／After]</a:t>
            </a:r>
            <a:endParaRPr lang="en-US" sz="1400" dirty="0"/>
          </a:p>
        </p:txBody>
      </p:sp>
      <p:sp>
        <p:nvSpPr>
          <p:cNvPr id="302" name="Text 13"/>
          <p:cNvSpPr/>
          <p:nvPr/>
        </p:nvSpPr>
        <p:spPr>
          <a:xfrm>
            <a:off x="8566709" y="2157984"/>
            <a:ext cx="276545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[項目1]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[項目2]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[項目3]</a:t>
            </a:r>
            <a:endParaRPr lang="en-US" sz="1200" dirty="0"/>
          </a:p>
        </p:txBody>
      </p:sp>
      <p:sp>
        <p:nvSpPr>
          <p:cNvPr id="303" name="Text 14"/>
          <p:cNvSpPr/>
          <p:nvPr/>
        </p:nvSpPr>
        <p:spPr>
          <a:xfrm>
            <a:off x="3958488" y="2616200"/>
            <a:ext cx="411988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700" dirty="0"/>
          </a:p>
        </p:txBody>
      </p:sp>
      <p:sp>
        <p:nvSpPr>
          <p:cNvPr id="304" name="Text 15"/>
          <p:cNvSpPr/>
          <p:nvPr/>
        </p:nvSpPr>
        <p:spPr>
          <a:xfrm>
            <a:off x="7812075" y="2616200"/>
            <a:ext cx="411988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700" dirty="0"/>
          </a:p>
        </p:txBody>
      </p:sp>
      <p:sp>
        <p:nvSpPr>
          <p:cNvPr id="305" name="Shape 16"/>
          <p:cNvSpPr/>
          <p:nvPr/>
        </p:nvSpPr>
        <p:spPr>
          <a:xfrm>
            <a:off x="566928" y="5358384"/>
            <a:ext cx="11057839" cy="475488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6" name="Text 17"/>
          <p:cNvSpPr/>
          <p:nvPr/>
        </p:nvSpPr>
        <p:spPr>
          <a:xfrm>
            <a:off x="768096" y="5413248"/>
            <a:ext cx="10655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[結論。だから次に何を決めるかを書く]</a:t>
            </a:r>
            <a:endParaRPr lang="en-US" sz="1400" dirty="0"/>
          </a:p>
        </p:txBody>
      </p:sp>
      <p:sp>
        <p:nvSpPr>
          <p:cNvPr id="307" name="Text 18"/>
          <p:cNvSpPr/>
          <p:nvPr/>
        </p:nvSpPr>
        <p:spPr>
          <a:xfrm>
            <a:off x="566928" y="607161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[出所／対象期間／母数 n=／基準日]。無い場合は ※要確認 と明記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3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0"/>
          <p:cNvSpPr/>
          <p:nvPr/>
        </p:nvSpPr>
        <p:spPr>
          <a:xfrm>
            <a:off x="566928" y="457200"/>
            <a:ext cx="64008" cy="384048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0" name="Text 1"/>
          <p:cNvSpPr/>
          <p:nvPr/>
        </p:nvSpPr>
        <p:spPr>
          <a:xfrm>
            <a:off x="768096" y="384048"/>
            <a:ext cx="108566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[タイトル]</a:t>
            </a:r>
            <a:endParaRPr lang="en-US" sz="3000" dirty="0"/>
          </a:p>
        </p:txBody>
      </p:sp>
      <p:sp>
        <p:nvSpPr>
          <p:cNvPr id="311" name="Text 2"/>
          <p:cNvSpPr/>
          <p:nvPr/>
        </p:nvSpPr>
        <p:spPr>
          <a:xfrm>
            <a:off x="768096" y="987552"/>
            <a:ext cx="108566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[項目間の差を棒グラフで比較する]</a:t>
            </a:r>
            <a:endParaRPr lang="en-US" sz="1300" dirty="0"/>
          </a:p>
        </p:txBody>
      </p:sp>
      <p:sp>
        <p:nvSpPr>
          <p:cNvPr id="312" name="Text 3"/>
          <p:cNvSpPr/>
          <p:nvPr/>
        </p:nvSpPr>
        <p:spPr>
          <a:xfrm>
            <a:off x="566928" y="63459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bar-compare  ｜  data  ｜  棒グラフ＋示唆</a:t>
            </a:r>
            <a:endParaRPr lang="en-US" sz="900" dirty="0"/>
          </a:p>
        </p:txBody>
      </p:sp>
      <p:sp>
        <p:nvSpPr>
          <p:cNvPr id="313" name="Text 4"/>
          <p:cNvSpPr/>
          <p:nvPr/>
        </p:nvSpPr>
        <p:spPr>
          <a:xfrm>
            <a:off x="10524744" y="6345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900" dirty="0"/>
          </a:p>
        </p:txBody>
      </p:sp>
      <p:sp>
        <p:nvSpPr>
          <p:cNvPr id="314" name="Shape 5"/>
          <p:cNvSpPr/>
          <p:nvPr/>
        </p:nvSpPr>
        <p:spPr>
          <a:xfrm>
            <a:off x="2252218" y="1591056"/>
            <a:ext cx="12700" cy="3383280"/>
          </a:xfrm>
          <a:prstGeom prst="rect">
            <a:avLst/>
          </a:prstGeom>
          <a:solidFill>
            <a:srgbClr val="D8DE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5" name="Text 6"/>
          <p:cNvSpPr/>
          <p:nvPr/>
        </p:nvSpPr>
        <p:spPr>
          <a:xfrm>
            <a:off x="2258568" y="131673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[単位]</a:t>
            </a:r>
            <a:endParaRPr lang="en-US" sz="900" dirty="0"/>
          </a:p>
        </p:txBody>
      </p:sp>
      <p:sp>
        <p:nvSpPr>
          <p:cNvPr id="316" name="Text 7"/>
          <p:cNvSpPr/>
          <p:nvPr/>
        </p:nvSpPr>
        <p:spPr>
          <a:xfrm>
            <a:off x="566928" y="1665884"/>
            <a:ext cx="1545336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[項目1]</a:t>
            </a:r>
            <a:endParaRPr lang="en-US" sz="1100" dirty="0"/>
          </a:p>
        </p:txBody>
      </p:sp>
      <p:sp>
        <p:nvSpPr>
          <p:cNvPr id="317" name="Shape 8"/>
          <p:cNvSpPr/>
          <p:nvPr/>
        </p:nvSpPr>
        <p:spPr>
          <a:xfrm>
            <a:off x="2258568" y="1720748"/>
            <a:ext cx="4451684" cy="304495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8" name="Text 9"/>
          <p:cNvSpPr/>
          <p:nvPr/>
        </p:nvSpPr>
        <p:spPr>
          <a:xfrm>
            <a:off x="6801692" y="1665884"/>
            <a:ext cx="82296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[00]</a:t>
            </a:r>
            <a:endParaRPr lang="en-US" sz="1000" dirty="0"/>
          </a:p>
        </p:txBody>
      </p:sp>
      <p:sp>
        <p:nvSpPr>
          <p:cNvPr id="319" name="Text 10"/>
          <p:cNvSpPr/>
          <p:nvPr/>
        </p:nvSpPr>
        <p:spPr>
          <a:xfrm>
            <a:off x="566928" y="2229764"/>
            <a:ext cx="1545336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[項目2]</a:t>
            </a:r>
            <a:endParaRPr lang="en-US" sz="1100" dirty="0"/>
          </a:p>
        </p:txBody>
      </p:sp>
      <p:sp>
        <p:nvSpPr>
          <p:cNvPr id="320" name="Shape 11"/>
          <p:cNvSpPr/>
          <p:nvPr/>
        </p:nvSpPr>
        <p:spPr>
          <a:xfrm>
            <a:off x="2258568" y="2284628"/>
            <a:ext cx="2709721" cy="304495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1" name="Text 12"/>
          <p:cNvSpPr/>
          <p:nvPr/>
        </p:nvSpPr>
        <p:spPr>
          <a:xfrm>
            <a:off x="5059729" y="2229764"/>
            <a:ext cx="82296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[00]</a:t>
            </a:r>
            <a:endParaRPr lang="en-US" sz="1000" dirty="0"/>
          </a:p>
        </p:txBody>
      </p:sp>
      <p:sp>
        <p:nvSpPr>
          <p:cNvPr id="322" name="Text 13"/>
          <p:cNvSpPr/>
          <p:nvPr/>
        </p:nvSpPr>
        <p:spPr>
          <a:xfrm>
            <a:off x="566928" y="2793644"/>
            <a:ext cx="1545336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[項目3]</a:t>
            </a:r>
            <a:endParaRPr lang="en-US" sz="1100" dirty="0"/>
          </a:p>
        </p:txBody>
      </p:sp>
      <p:sp>
        <p:nvSpPr>
          <p:cNvPr id="323" name="Shape 14"/>
          <p:cNvSpPr/>
          <p:nvPr/>
        </p:nvSpPr>
        <p:spPr>
          <a:xfrm>
            <a:off x="2258568" y="2848508"/>
            <a:ext cx="1645188" cy="304495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4" name="Text 15"/>
          <p:cNvSpPr/>
          <p:nvPr/>
        </p:nvSpPr>
        <p:spPr>
          <a:xfrm>
            <a:off x="3995196" y="2793644"/>
            <a:ext cx="82296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[00]</a:t>
            </a:r>
            <a:endParaRPr lang="en-US" sz="1000" dirty="0"/>
          </a:p>
        </p:txBody>
      </p:sp>
      <p:sp>
        <p:nvSpPr>
          <p:cNvPr id="325" name="Text 16"/>
          <p:cNvSpPr/>
          <p:nvPr/>
        </p:nvSpPr>
        <p:spPr>
          <a:xfrm>
            <a:off x="566928" y="3357524"/>
            <a:ext cx="1545336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[項目4]</a:t>
            </a:r>
            <a:endParaRPr lang="en-US" sz="1100" dirty="0"/>
          </a:p>
        </p:txBody>
      </p:sp>
      <p:sp>
        <p:nvSpPr>
          <p:cNvPr id="326" name="Shape 17"/>
          <p:cNvSpPr/>
          <p:nvPr/>
        </p:nvSpPr>
        <p:spPr>
          <a:xfrm>
            <a:off x="2258568" y="3412388"/>
            <a:ext cx="1233891" cy="304495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7" name="Text 18"/>
          <p:cNvSpPr/>
          <p:nvPr/>
        </p:nvSpPr>
        <p:spPr>
          <a:xfrm>
            <a:off x="3583899" y="3357524"/>
            <a:ext cx="82296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[00]</a:t>
            </a:r>
            <a:endParaRPr lang="en-US" sz="1000" dirty="0"/>
          </a:p>
        </p:txBody>
      </p:sp>
      <p:sp>
        <p:nvSpPr>
          <p:cNvPr id="328" name="Text 19"/>
          <p:cNvSpPr/>
          <p:nvPr/>
        </p:nvSpPr>
        <p:spPr>
          <a:xfrm>
            <a:off x="566928" y="3921404"/>
            <a:ext cx="1545336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[項目5]</a:t>
            </a:r>
            <a:endParaRPr lang="en-US" sz="1100" dirty="0"/>
          </a:p>
        </p:txBody>
      </p:sp>
      <p:sp>
        <p:nvSpPr>
          <p:cNvPr id="329" name="Shape 20"/>
          <p:cNvSpPr/>
          <p:nvPr/>
        </p:nvSpPr>
        <p:spPr>
          <a:xfrm>
            <a:off x="2258568" y="3976268"/>
            <a:ext cx="1112921" cy="304495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0" name="Text 21"/>
          <p:cNvSpPr/>
          <p:nvPr/>
        </p:nvSpPr>
        <p:spPr>
          <a:xfrm>
            <a:off x="3462929" y="3921404"/>
            <a:ext cx="82296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[00]</a:t>
            </a:r>
            <a:endParaRPr lang="en-US" sz="1000" dirty="0"/>
          </a:p>
        </p:txBody>
      </p:sp>
      <p:sp>
        <p:nvSpPr>
          <p:cNvPr id="331" name="Text 22"/>
          <p:cNvSpPr/>
          <p:nvPr/>
        </p:nvSpPr>
        <p:spPr>
          <a:xfrm>
            <a:off x="566928" y="4485284"/>
            <a:ext cx="1545336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[項目6]</a:t>
            </a:r>
            <a:endParaRPr lang="en-US" sz="1100" dirty="0"/>
          </a:p>
        </p:txBody>
      </p:sp>
      <p:sp>
        <p:nvSpPr>
          <p:cNvPr id="332" name="Shape 23"/>
          <p:cNvSpPr/>
          <p:nvPr/>
        </p:nvSpPr>
        <p:spPr>
          <a:xfrm>
            <a:off x="2258568" y="4540148"/>
            <a:ext cx="556461" cy="304495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3" name="Text 24"/>
          <p:cNvSpPr/>
          <p:nvPr/>
        </p:nvSpPr>
        <p:spPr>
          <a:xfrm>
            <a:off x="2906469" y="4485284"/>
            <a:ext cx="82296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[00]</a:t>
            </a:r>
            <a:endParaRPr lang="en-US" sz="1000" dirty="0"/>
          </a:p>
        </p:txBody>
      </p:sp>
      <p:sp>
        <p:nvSpPr>
          <p:cNvPr id="334" name="Text 25"/>
          <p:cNvSpPr/>
          <p:nvPr/>
        </p:nvSpPr>
        <p:spPr>
          <a:xfrm>
            <a:off x="8366760" y="148132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読み取るべきこと</a:t>
            </a:r>
            <a:endParaRPr lang="en-US" sz="1200" dirty="0"/>
          </a:p>
        </p:txBody>
      </p:sp>
      <p:sp>
        <p:nvSpPr>
          <p:cNvPr id="335" name="Text 26"/>
          <p:cNvSpPr/>
          <p:nvPr/>
        </p:nvSpPr>
        <p:spPr>
          <a:xfrm>
            <a:off x="8366760" y="1938528"/>
            <a:ext cx="3246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[最大差]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[例外項目]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[差の主因]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[必要な対応]</a:t>
            </a:r>
            <a:endParaRPr lang="en-US" sz="1200" dirty="0"/>
          </a:p>
        </p:txBody>
      </p:sp>
      <p:sp>
        <p:nvSpPr>
          <p:cNvPr id="336" name="Shape 27"/>
          <p:cNvSpPr/>
          <p:nvPr/>
        </p:nvSpPr>
        <p:spPr>
          <a:xfrm>
            <a:off x="566928" y="5358384"/>
            <a:ext cx="11057839" cy="475488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7" name="Text 28"/>
          <p:cNvSpPr/>
          <p:nvPr/>
        </p:nvSpPr>
        <p:spPr>
          <a:xfrm>
            <a:off x="768096" y="5413248"/>
            <a:ext cx="10655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[結論。だから次に何を決めるかを書く]</a:t>
            </a:r>
            <a:endParaRPr lang="en-US" sz="1400" dirty="0"/>
          </a:p>
        </p:txBody>
      </p:sp>
      <p:sp>
        <p:nvSpPr>
          <p:cNvPr id="338" name="Text 29"/>
          <p:cNvSpPr/>
          <p:nvPr/>
        </p:nvSpPr>
        <p:spPr>
          <a:xfrm>
            <a:off x="566928" y="607161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[出所／対象期間／母数 n=／基準日]。無い場合は ※要確認 と明記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3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Shape 0"/>
          <p:cNvSpPr/>
          <p:nvPr/>
        </p:nvSpPr>
        <p:spPr>
          <a:xfrm>
            <a:off x="566928" y="457200"/>
            <a:ext cx="64008" cy="384048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1" name="Text 1"/>
          <p:cNvSpPr/>
          <p:nvPr/>
        </p:nvSpPr>
        <p:spPr>
          <a:xfrm>
            <a:off x="768096" y="384048"/>
            <a:ext cx="108566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[タイトル]</a:t>
            </a:r>
            <a:endParaRPr lang="en-US" sz="3000" dirty="0"/>
          </a:p>
        </p:txBody>
      </p:sp>
      <p:sp>
        <p:nvSpPr>
          <p:cNvPr id="342" name="Text 2"/>
          <p:cNvSpPr/>
          <p:nvPr/>
        </p:nvSpPr>
        <p:spPr>
          <a:xfrm>
            <a:off x="768096" y="987552"/>
            <a:ext cx="108566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[推移とKPIを組み合わせ、変化の意味を示す]</a:t>
            </a:r>
            <a:endParaRPr lang="en-US" sz="1300" dirty="0"/>
          </a:p>
        </p:txBody>
      </p:sp>
      <p:sp>
        <p:nvSpPr>
          <p:cNvPr id="343" name="Text 3"/>
          <p:cNvSpPr/>
          <p:nvPr/>
        </p:nvSpPr>
        <p:spPr>
          <a:xfrm>
            <a:off x="566928" y="63459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kpi-trend  ｜  data  ｜  KPI＋推移</a:t>
            </a:r>
            <a:endParaRPr lang="en-US" sz="900" dirty="0"/>
          </a:p>
        </p:txBody>
      </p:sp>
      <p:sp>
        <p:nvSpPr>
          <p:cNvPr id="344" name="Text 4"/>
          <p:cNvSpPr/>
          <p:nvPr/>
        </p:nvSpPr>
        <p:spPr>
          <a:xfrm>
            <a:off x="10524744" y="6345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900" dirty="0"/>
          </a:p>
        </p:txBody>
      </p:sp>
      <p:sp>
        <p:nvSpPr>
          <p:cNvPr id="345" name="Shape 5"/>
          <p:cNvSpPr/>
          <p:nvPr/>
        </p:nvSpPr>
        <p:spPr>
          <a:xfrm>
            <a:off x="566928" y="1481328"/>
            <a:ext cx="3017520" cy="109728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6" name="Text 6"/>
          <p:cNvSpPr/>
          <p:nvPr/>
        </p:nvSpPr>
        <p:spPr>
          <a:xfrm>
            <a:off x="841248" y="156362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[現在値]</a:t>
            </a:r>
            <a:endParaRPr lang="en-US" sz="3000" dirty="0"/>
          </a:p>
        </p:txBody>
      </p:sp>
      <p:sp>
        <p:nvSpPr>
          <p:cNvPr id="347" name="Text 7"/>
          <p:cNvSpPr/>
          <p:nvPr/>
        </p:nvSpPr>
        <p:spPr>
          <a:xfrm>
            <a:off x="841248" y="21762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[指標名]</a:t>
            </a:r>
            <a:endParaRPr lang="en-US" sz="1200" dirty="0"/>
          </a:p>
        </p:txBody>
      </p:sp>
      <p:sp>
        <p:nvSpPr>
          <p:cNvPr id="348" name="Text 8"/>
          <p:cNvSpPr/>
          <p:nvPr/>
        </p:nvSpPr>
        <p:spPr>
          <a:xfrm>
            <a:off x="2350008" y="21762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[目標]</a:t>
            </a:r>
            <a:endParaRPr lang="en-US" sz="1100" dirty="0"/>
          </a:p>
        </p:txBody>
      </p:sp>
      <p:sp>
        <p:nvSpPr>
          <p:cNvPr id="349" name="Shape 9"/>
          <p:cNvSpPr/>
          <p:nvPr/>
        </p:nvSpPr>
        <p:spPr>
          <a:xfrm>
            <a:off x="566928" y="2724912"/>
            <a:ext cx="3017520" cy="109728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0" name="Text 10"/>
          <p:cNvSpPr/>
          <p:nvPr/>
        </p:nvSpPr>
        <p:spPr>
          <a:xfrm>
            <a:off x="841248" y="280720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[現在値]</a:t>
            </a:r>
            <a:endParaRPr lang="en-US" sz="3000" dirty="0"/>
          </a:p>
        </p:txBody>
      </p:sp>
      <p:sp>
        <p:nvSpPr>
          <p:cNvPr id="351" name="Text 11"/>
          <p:cNvSpPr/>
          <p:nvPr/>
        </p:nvSpPr>
        <p:spPr>
          <a:xfrm>
            <a:off x="841248" y="34198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[指標名]</a:t>
            </a:r>
            <a:endParaRPr lang="en-US" sz="1200" dirty="0"/>
          </a:p>
        </p:txBody>
      </p:sp>
      <p:sp>
        <p:nvSpPr>
          <p:cNvPr id="352" name="Text 12"/>
          <p:cNvSpPr/>
          <p:nvPr/>
        </p:nvSpPr>
        <p:spPr>
          <a:xfrm>
            <a:off x="2350008" y="34198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[目標]</a:t>
            </a:r>
            <a:endParaRPr lang="en-US" sz="1100" dirty="0"/>
          </a:p>
        </p:txBody>
      </p:sp>
      <p:sp>
        <p:nvSpPr>
          <p:cNvPr id="353" name="Shape 13"/>
          <p:cNvSpPr/>
          <p:nvPr/>
        </p:nvSpPr>
        <p:spPr>
          <a:xfrm>
            <a:off x="566928" y="3968496"/>
            <a:ext cx="3017520" cy="109728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4" name="Text 14"/>
          <p:cNvSpPr/>
          <p:nvPr/>
        </p:nvSpPr>
        <p:spPr>
          <a:xfrm>
            <a:off x="841248" y="40507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[現在値]</a:t>
            </a:r>
            <a:endParaRPr lang="en-US" sz="3000" dirty="0"/>
          </a:p>
        </p:txBody>
      </p:sp>
      <p:sp>
        <p:nvSpPr>
          <p:cNvPr id="355" name="Text 15"/>
          <p:cNvSpPr/>
          <p:nvPr/>
        </p:nvSpPr>
        <p:spPr>
          <a:xfrm>
            <a:off x="841248" y="4663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[指標名]</a:t>
            </a:r>
            <a:endParaRPr lang="en-US" sz="1200" dirty="0"/>
          </a:p>
        </p:txBody>
      </p:sp>
      <p:sp>
        <p:nvSpPr>
          <p:cNvPr id="356" name="Text 16"/>
          <p:cNvSpPr/>
          <p:nvPr/>
        </p:nvSpPr>
        <p:spPr>
          <a:xfrm>
            <a:off x="2350008" y="46634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[目標]</a:t>
            </a:r>
            <a:endParaRPr lang="en-US" sz="1100" dirty="0"/>
          </a:p>
        </p:txBody>
      </p:sp>
      <p:sp>
        <p:nvSpPr>
          <p:cNvPr id="357" name="Text 17"/>
          <p:cNvSpPr/>
          <p:nvPr/>
        </p:nvSpPr>
        <p:spPr>
          <a:xfrm>
            <a:off x="4882896" y="15361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[単位]</a:t>
            </a:r>
            <a:endParaRPr lang="en-US" sz="900" dirty="0"/>
          </a:p>
        </p:txBody>
      </p:sp>
      <p:sp>
        <p:nvSpPr>
          <p:cNvPr id="358" name="Shape 18"/>
          <p:cNvSpPr/>
          <p:nvPr/>
        </p:nvSpPr>
        <p:spPr>
          <a:xfrm>
            <a:off x="4846320" y="4666234"/>
            <a:ext cx="6537960" cy="12700"/>
          </a:xfrm>
          <a:prstGeom prst="rect">
            <a:avLst/>
          </a:prstGeom>
          <a:solidFill>
            <a:srgbClr val="8A9A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9" name="Shape 19"/>
          <p:cNvSpPr/>
          <p:nvPr/>
        </p:nvSpPr>
        <p:spPr>
          <a:xfrm>
            <a:off x="4846320" y="3718306"/>
            <a:ext cx="6537960" cy="12700"/>
          </a:xfrm>
          <a:prstGeom prst="rect">
            <a:avLst/>
          </a:prstGeom>
          <a:solidFill>
            <a:srgbClr val="D8DE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0" name="Shape 20"/>
          <p:cNvSpPr/>
          <p:nvPr/>
        </p:nvSpPr>
        <p:spPr>
          <a:xfrm>
            <a:off x="4846320" y="2770378"/>
            <a:ext cx="6537960" cy="12700"/>
          </a:xfrm>
          <a:prstGeom prst="rect">
            <a:avLst/>
          </a:prstGeom>
          <a:solidFill>
            <a:srgbClr val="D8DE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1" name="Shape 21"/>
          <p:cNvSpPr/>
          <p:nvPr/>
        </p:nvSpPr>
        <p:spPr>
          <a:xfrm>
            <a:off x="4846320" y="1822450"/>
            <a:ext cx="6537960" cy="12700"/>
          </a:xfrm>
          <a:prstGeom prst="rect">
            <a:avLst/>
          </a:prstGeom>
          <a:solidFill>
            <a:srgbClr val="D8DE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2" name="Shape 22"/>
          <p:cNvSpPr/>
          <p:nvPr/>
        </p:nvSpPr>
        <p:spPr>
          <a:xfrm>
            <a:off x="5140528" y="2207971"/>
            <a:ext cx="501244" cy="2464613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3" name="Text 23"/>
          <p:cNvSpPr/>
          <p:nvPr/>
        </p:nvSpPr>
        <p:spPr>
          <a:xfrm>
            <a:off x="4957648" y="1915363"/>
            <a:ext cx="8670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[00]</a:t>
            </a:r>
            <a:endParaRPr lang="en-US" sz="1000" dirty="0"/>
          </a:p>
        </p:txBody>
      </p:sp>
      <p:sp>
        <p:nvSpPr>
          <p:cNvPr id="364" name="Text 24"/>
          <p:cNvSpPr/>
          <p:nvPr/>
        </p:nvSpPr>
        <p:spPr>
          <a:xfrm>
            <a:off x="4846320" y="4764024"/>
            <a:ext cx="10896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[第1期]</a:t>
            </a:r>
            <a:endParaRPr lang="en-US" sz="1000" dirty="0"/>
          </a:p>
        </p:txBody>
      </p:sp>
      <p:sp>
        <p:nvSpPr>
          <p:cNvPr id="365" name="Shape 25"/>
          <p:cNvSpPr/>
          <p:nvPr/>
        </p:nvSpPr>
        <p:spPr>
          <a:xfrm>
            <a:off x="6230188" y="2492350"/>
            <a:ext cx="501244" cy="2180234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6" name="Text 26"/>
          <p:cNvSpPr/>
          <p:nvPr/>
        </p:nvSpPr>
        <p:spPr>
          <a:xfrm>
            <a:off x="6047308" y="2199742"/>
            <a:ext cx="8670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[00]</a:t>
            </a:r>
            <a:endParaRPr lang="en-US" sz="1000" dirty="0"/>
          </a:p>
        </p:txBody>
      </p:sp>
      <p:sp>
        <p:nvSpPr>
          <p:cNvPr id="367" name="Text 27"/>
          <p:cNvSpPr/>
          <p:nvPr/>
        </p:nvSpPr>
        <p:spPr>
          <a:xfrm>
            <a:off x="5935980" y="4764024"/>
            <a:ext cx="10896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[第2期]</a:t>
            </a:r>
            <a:endParaRPr lang="en-US" sz="1000" dirty="0"/>
          </a:p>
        </p:txBody>
      </p:sp>
      <p:sp>
        <p:nvSpPr>
          <p:cNvPr id="368" name="Shape 28"/>
          <p:cNvSpPr/>
          <p:nvPr/>
        </p:nvSpPr>
        <p:spPr>
          <a:xfrm>
            <a:off x="7319848" y="2729332"/>
            <a:ext cx="501244" cy="1943252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9" name="Text 29"/>
          <p:cNvSpPr/>
          <p:nvPr/>
        </p:nvSpPr>
        <p:spPr>
          <a:xfrm>
            <a:off x="7136968" y="2436724"/>
            <a:ext cx="8670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[00]</a:t>
            </a:r>
            <a:endParaRPr lang="en-US" sz="1000" dirty="0"/>
          </a:p>
        </p:txBody>
      </p:sp>
      <p:sp>
        <p:nvSpPr>
          <p:cNvPr id="370" name="Text 30"/>
          <p:cNvSpPr/>
          <p:nvPr/>
        </p:nvSpPr>
        <p:spPr>
          <a:xfrm>
            <a:off x="7025640" y="4764024"/>
            <a:ext cx="10896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[第3期]</a:t>
            </a:r>
            <a:endParaRPr lang="en-US" sz="1000" dirty="0"/>
          </a:p>
        </p:txBody>
      </p:sp>
      <p:sp>
        <p:nvSpPr>
          <p:cNvPr id="371" name="Shape 31"/>
          <p:cNvSpPr/>
          <p:nvPr/>
        </p:nvSpPr>
        <p:spPr>
          <a:xfrm>
            <a:off x="8409508" y="2918917"/>
            <a:ext cx="501244" cy="1753667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2" name="Text 32"/>
          <p:cNvSpPr/>
          <p:nvPr/>
        </p:nvSpPr>
        <p:spPr>
          <a:xfrm>
            <a:off x="8226628" y="2626309"/>
            <a:ext cx="8670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[00]</a:t>
            </a:r>
            <a:endParaRPr lang="en-US" sz="1000" dirty="0"/>
          </a:p>
        </p:txBody>
      </p:sp>
      <p:sp>
        <p:nvSpPr>
          <p:cNvPr id="373" name="Text 33"/>
          <p:cNvSpPr/>
          <p:nvPr/>
        </p:nvSpPr>
        <p:spPr>
          <a:xfrm>
            <a:off x="8115300" y="4764024"/>
            <a:ext cx="10896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[第4期]</a:t>
            </a:r>
            <a:endParaRPr lang="en-US" sz="1000" dirty="0"/>
          </a:p>
        </p:txBody>
      </p:sp>
      <p:sp>
        <p:nvSpPr>
          <p:cNvPr id="374" name="Shape 34"/>
          <p:cNvSpPr/>
          <p:nvPr/>
        </p:nvSpPr>
        <p:spPr>
          <a:xfrm>
            <a:off x="9499168" y="3108503"/>
            <a:ext cx="501244" cy="1564081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5" name="Text 35"/>
          <p:cNvSpPr/>
          <p:nvPr/>
        </p:nvSpPr>
        <p:spPr>
          <a:xfrm>
            <a:off x="9316288" y="2815895"/>
            <a:ext cx="8670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[00]</a:t>
            </a:r>
            <a:endParaRPr lang="en-US" sz="1000" dirty="0"/>
          </a:p>
        </p:txBody>
      </p:sp>
      <p:sp>
        <p:nvSpPr>
          <p:cNvPr id="376" name="Text 36"/>
          <p:cNvSpPr/>
          <p:nvPr/>
        </p:nvSpPr>
        <p:spPr>
          <a:xfrm>
            <a:off x="9204960" y="4764024"/>
            <a:ext cx="10896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[第5期]</a:t>
            </a:r>
            <a:endParaRPr lang="en-US" sz="1000" dirty="0"/>
          </a:p>
        </p:txBody>
      </p:sp>
      <p:sp>
        <p:nvSpPr>
          <p:cNvPr id="377" name="Shape 37"/>
          <p:cNvSpPr/>
          <p:nvPr/>
        </p:nvSpPr>
        <p:spPr>
          <a:xfrm>
            <a:off x="10588828" y="3155899"/>
            <a:ext cx="501244" cy="1516685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8" name="Text 38"/>
          <p:cNvSpPr/>
          <p:nvPr/>
        </p:nvSpPr>
        <p:spPr>
          <a:xfrm>
            <a:off x="10405948" y="2863291"/>
            <a:ext cx="8670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[00]</a:t>
            </a:r>
            <a:endParaRPr lang="en-US" sz="1000" dirty="0"/>
          </a:p>
        </p:txBody>
      </p:sp>
      <p:sp>
        <p:nvSpPr>
          <p:cNvPr id="379" name="Text 39"/>
          <p:cNvSpPr/>
          <p:nvPr/>
        </p:nvSpPr>
        <p:spPr>
          <a:xfrm>
            <a:off x="10294620" y="4764024"/>
            <a:ext cx="10896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[第6期]</a:t>
            </a:r>
            <a:endParaRPr lang="en-US" sz="1000" dirty="0"/>
          </a:p>
        </p:txBody>
      </p:sp>
      <p:sp>
        <p:nvSpPr>
          <p:cNvPr id="380" name="Shape 40"/>
          <p:cNvSpPr/>
          <p:nvPr/>
        </p:nvSpPr>
        <p:spPr>
          <a:xfrm>
            <a:off x="4846320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1" name="Shape 41"/>
          <p:cNvSpPr/>
          <p:nvPr/>
        </p:nvSpPr>
        <p:spPr>
          <a:xfrm>
            <a:off x="5001768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2" name="Shape 42"/>
          <p:cNvSpPr/>
          <p:nvPr/>
        </p:nvSpPr>
        <p:spPr>
          <a:xfrm>
            <a:off x="5157216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3" name="Shape 43"/>
          <p:cNvSpPr/>
          <p:nvPr/>
        </p:nvSpPr>
        <p:spPr>
          <a:xfrm>
            <a:off x="5312664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4" name="Shape 44"/>
          <p:cNvSpPr/>
          <p:nvPr/>
        </p:nvSpPr>
        <p:spPr>
          <a:xfrm>
            <a:off x="5468112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5" name="Shape 45"/>
          <p:cNvSpPr/>
          <p:nvPr/>
        </p:nvSpPr>
        <p:spPr>
          <a:xfrm>
            <a:off x="5623560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6" name="Shape 46"/>
          <p:cNvSpPr/>
          <p:nvPr/>
        </p:nvSpPr>
        <p:spPr>
          <a:xfrm>
            <a:off x="5779008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7" name="Shape 47"/>
          <p:cNvSpPr/>
          <p:nvPr/>
        </p:nvSpPr>
        <p:spPr>
          <a:xfrm>
            <a:off x="5934456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8" name="Shape 48"/>
          <p:cNvSpPr/>
          <p:nvPr/>
        </p:nvSpPr>
        <p:spPr>
          <a:xfrm>
            <a:off x="6089904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9" name="Shape 49"/>
          <p:cNvSpPr/>
          <p:nvPr/>
        </p:nvSpPr>
        <p:spPr>
          <a:xfrm>
            <a:off x="6245352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0" name="Shape 50"/>
          <p:cNvSpPr/>
          <p:nvPr/>
        </p:nvSpPr>
        <p:spPr>
          <a:xfrm>
            <a:off x="6400800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1" name="Shape 51"/>
          <p:cNvSpPr/>
          <p:nvPr/>
        </p:nvSpPr>
        <p:spPr>
          <a:xfrm>
            <a:off x="6556248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2" name="Shape 52"/>
          <p:cNvSpPr/>
          <p:nvPr/>
        </p:nvSpPr>
        <p:spPr>
          <a:xfrm>
            <a:off x="6711696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3" name="Shape 53"/>
          <p:cNvSpPr/>
          <p:nvPr/>
        </p:nvSpPr>
        <p:spPr>
          <a:xfrm>
            <a:off x="6867144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4" name="Shape 54"/>
          <p:cNvSpPr/>
          <p:nvPr/>
        </p:nvSpPr>
        <p:spPr>
          <a:xfrm>
            <a:off x="7022592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5" name="Shape 55"/>
          <p:cNvSpPr/>
          <p:nvPr/>
        </p:nvSpPr>
        <p:spPr>
          <a:xfrm>
            <a:off x="7178040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6" name="Shape 56"/>
          <p:cNvSpPr/>
          <p:nvPr/>
        </p:nvSpPr>
        <p:spPr>
          <a:xfrm>
            <a:off x="7333488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7" name="Shape 57"/>
          <p:cNvSpPr/>
          <p:nvPr/>
        </p:nvSpPr>
        <p:spPr>
          <a:xfrm>
            <a:off x="7488936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8" name="Shape 58"/>
          <p:cNvSpPr/>
          <p:nvPr/>
        </p:nvSpPr>
        <p:spPr>
          <a:xfrm>
            <a:off x="7644384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9" name="Shape 59"/>
          <p:cNvSpPr/>
          <p:nvPr/>
        </p:nvSpPr>
        <p:spPr>
          <a:xfrm>
            <a:off x="7799832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0" name="Shape 60"/>
          <p:cNvSpPr/>
          <p:nvPr/>
        </p:nvSpPr>
        <p:spPr>
          <a:xfrm>
            <a:off x="7955280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1" name="Shape 61"/>
          <p:cNvSpPr/>
          <p:nvPr/>
        </p:nvSpPr>
        <p:spPr>
          <a:xfrm>
            <a:off x="8110728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2" name="Shape 62"/>
          <p:cNvSpPr/>
          <p:nvPr/>
        </p:nvSpPr>
        <p:spPr>
          <a:xfrm>
            <a:off x="8266176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3" name="Shape 63"/>
          <p:cNvSpPr/>
          <p:nvPr/>
        </p:nvSpPr>
        <p:spPr>
          <a:xfrm>
            <a:off x="8421624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4" name="Shape 64"/>
          <p:cNvSpPr/>
          <p:nvPr/>
        </p:nvSpPr>
        <p:spPr>
          <a:xfrm>
            <a:off x="8577072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5" name="Shape 65"/>
          <p:cNvSpPr/>
          <p:nvPr/>
        </p:nvSpPr>
        <p:spPr>
          <a:xfrm>
            <a:off x="8732520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6" name="Shape 66"/>
          <p:cNvSpPr/>
          <p:nvPr/>
        </p:nvSpPr>
        <p:spPr>
          <a:xfrm>
            <a:off x="8887968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7" name="Shape 67"/>
          <p:cNvSpPr/>
          <p:nvPr/>
        </p:nvSpPr>
        <p:spPr>
          <a:xfrm>
            <a:off x="9043416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8" name="Shape 68"/>
          <p:cNvSpPr/>
          <p:nvPr/>
        </p:nvSpPr>
        <p:spPr>
          <a:xfrm>
            <a:off x="9198864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9" name="Shape 69"/>
          <p:cNvSpPr/>
          <p:nvPr/>
        </p:nvSpPr>
        <p:spPr>
          <a:xfrm>
            <a:off x="9354312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0" name="Shape 70"/>
          <p:cNvSpPr/>
          <p:nvPr/>
        </p:nvSpPr>
        <p:spPr>
          <a:xfrm>
            <a:off x="9509760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1" name="Shape 71"/>
          <p:cNvSpPr/>
          <p:nvPr/>
        </p:nvSpPr>
        <p:spPr>
          <a:xfrm>
            <a:off x="9665208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2" name="Shape 72"/>
          <p:cNvSpPr/>
          <p:nvPr/>
        </p:nvSpPr>
        <p:spPr>
          <a:xfrm>
            <a:off x="9820656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3" name="Shape 73"/>
          <p:cNvSpPr/>
          <p:nvPr/>
        </p:nvSpPr>
        <p:spPr>
          <a:xfrm>
            <a:off x="9976104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4" name="Shape 74"/>
          <p:cNvSpPr/>
          <p:nvPr/>
        </p:nvSpPr>
        <p:spPr>
          <a:xfrm>
            <a:off x="10131552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5" name="Shape 75"/>
          <p:cNvSpPr/>
          <p:nvPr/>
        </p:nvSpPr>
        <p:spPr>
          <a:xfrm>
            <a:off x="10287000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6" name="Shape 76"/>
          <p:cNvSpPr/>
          <p:nvPr/>
        </p:nvSpPr>
        <p:spPr>
          <a:xfrm>
            <a:off x="10442448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7" name="Shape 77"/>
          <p:cNvSpPr/>
          <p:nvPr/>
        </p:nvSpPr>
        <p:spPr>
          <a:xfrm>
            <a:off x="10597896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8" name="Shape 78"/>
          <p:cNvSpPr/>
          <p:nvPr/>
        </p:nvSpPr>
        <p:spPr>
          <a:xfrm>
            <a:off x="10753344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9" name="Shape 79"/>
          <p:cNvSpPr/>
          <p:nvPr/>
        </p:nvSpPr>
        <p:spPr>
          <a:xfrm>
            <a:off x="10908792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0" name="Shape 80"/>
          <p:cNvSpPr/>
          <p:nvPr/>
        </p:nvSpPr>
        <p:spPr>
          <a:xfrm>
            <a:off x="11064240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1" name="Shape 81"/>
          <p:cNvSpPr/>
          <p:nvPr/>
        </p:nvSpPr>
        <p:spPr>
          <a:xfrm>
            <a:off x="11219688" y="3237992"/>
            <a:ext cx="91440" cy="25400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2" name="Text 82"/>
          <p:cNvSpPr/>
          <p:nvPr/>
        </p:nvSpPr>
        <p:spPr>
          <a:xfrm>
            <a:off x="4901184" y="29580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07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[目標水準]</a:t>
            </a:r>
            <a:endParaRPr lang="en-US" sz="1000" dirty="0"/>
          </a:p>
        </p:txBody>
      </p:sp>
      <p:sp>
        <p:nvSpPr>
          <p:cNvPr id="423" name="Shape 83"/>
          <p:cNvSpPr/>
          <p:nvPr/>
        </p:nvSpPr>
        <p:spPr>
          <a:xfrm>
            <a:off x="566928" y="5358384"/>
            <a:ext cx="11057839" cy="475488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4" name="Text 84"/>
          <p:cNvSpPr/>
          <p:nvPr/>
        </p:nvSpPr>
        <p:spPr>
          <a:xfrm>
            <a:off x="768096" y="5413248"/>
            <a:ext cx="10655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[結論。だから次に何を決めるかを書く]</a:t>
            </a:r>
            <a:endParaRPr lang="en-US" sz="1400" dirty="0"/>
          </a:p>
        </p:txBody>
      </p:sp>
      <p:sp>
        <p:nvSpPr>
          <p:cNvPr id="425" name="Text 85"/>
          <p:cNvSpPr/>
          <p:nvPr/>
        </p:nvSpPr>
        <p:spPr>
          <a:xfrm>
            <a:off x="566928" y="607161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[出所／対象期間／母数 n=／基準日]。無い場合は ※要確認 と明記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4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Shape 0"/>
          <p:cNvSpPr/>
          <p:nvPr/>
        </p:nvSpPr>
        <p:spPr>
          <a:xfrm>
            <a:off x="566928" y="457200"/>
            <a:ext cx="64008" cy="384048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8" name="Text 1"/>
          <p:cNvSpPr/>
          <p:nvPr/>
        </p:nvSpPr>
        <p:spPr>
          <a:xfrm>
            <a:off x="768096" y="384048"/>
            <a:ext cx="108566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[タイトル]</a:t>
            </a:r>
            <a:endParaRPr lang="en-US" sz="3000" dirty="0"/>
          </a:p>
        </p:txBody>
      </p:sp>
      <p:sp>
        <p:nvSpPr>
          <p:cNvPr id="429" name="Text 2"/>
          <p:cNvSpPr/>
          <p:nvPr/>
        </p:nvSpPr>
        <p:spPr>
          <a:xfrm>
            <a:off x="768096" y="987552"/>
            <a:ext cx="108566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[同じ尺度の小さな図を並べて比較する]</a:t>
            </a:r>
            <a:endParaRPr lang="en-US" sz="1300" dirty="0"/>
          </a:p>
        </p:txBody>
      </p:sp>
      <p:sp>
        <p:nvSpPr>
          <p:cNvPr id="430" name="Text 3"/>
          <p:cNvSpPr/>
          <p:nvPr/>
        </p:nvSpPr>
        <p:spPr>
          <a:xfrm>
            <a:off x="566928" y="63459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small-multiples  ｜  data  ｜  小図の並置</a:t>
            </a:r>
            <a:endParaRPr lang="en-US" sz="900" dirty="0"/>
          </a:p>
        </p:txBody>
      </p:sp>
      <p:sp>
        <p:nvSpPr>
          <p:cNvPr id="431" name="Text 4"/>
          <p:cNvSpPr/>
          <p:nvPr/>
        </p:nvSpPr>
        <p:spPr>
          <a:xfrm>
            <a:off x="10524744" y="6345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900" dirty="0"/>
          </a:p>
        </p:txBody>
      </p:sp>
      <p:sp>
        <p:nvSpPr>
          <p:cNvPr id="432" name="Shape 5"/>
          <p:cNvSpPr/>
          <p:nvPr/>
        </p:nvSpPr>
        <p:spPr>
          <a:xfrm>
            <a:off x="566928" y="1481328"/>
            <a:ext cx="5300320" cy="16002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3" name="Text 6"/>
          <p:cNvSpPr/>
          <p:nvPr/>
        </p:nvSpPr>
        <p:spPr>
          <a:xfrm>
            <a:off x="822960" y="1627632"/>
            <a:ext cx="478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[対象1]</a:t>
            </a:r>
            <a:endParaRPr lang="en-US" sz="1200" dirty="0"/>
          </a:p>
        </p:txBody>
      </p:sp>
      <p:sp>
        <p:nvSpPr>
          <p:cNvPr id="434" name="Shape 7"/>
          <p:cNvSpPr/>
          <p:nvPr/>
        </p:nvSpPr>
        <p:spPr>
          <a:xfrm>
            <a:off x="978408" y="2189074"/>
            <a:ext cx="671604" cy="499262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5" name="Shape 8"/>
          <p:cNvSpPr/>
          <p:nvPr/>
        </p:nvSpPr>
        <p:spPr>
          <a:xfrm>
            <a:off x="2097748" y="2331720"/>
            <a:ext cx="671604" cy="356616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6" name="Shape 9"/>
          <p:cNvSpPr/>
          <p:nvPr/>
        </p:nvSpPr>
        <p:spPr>
          <a:xfrm>
            <a:off x="3217088" y="2082089"/>
            <a:ext cx="671604" cy="606247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7" name="Shape 10"/>
          <p:cNvSpPr/>
          <p:nvPr/>
        </p:nvSpPr>
        <p:spPr>
          <a:xfrm>
            <a:off x="4336428" y="2260397"/>
            <a:ext cx="671604" cy="427939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8" name="Shape 11"/>
          <p:cNvSpPr/>
          <p:nvPr/>
        </p:nvSpPr>
        <p:spPr>
          <a:xfrm>
            <a:off x="886968" y="2700274"/>
            <a:ext cx="4660240" cy="12700"/>
          </a:xfrm>
          <a:prstGeom prst="rect">
            <a:avLst/>
          </a:prstGeom>
          <a:solidFill>
            <a:srgbClr val="8A9A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9" name="Text 12"/>
          <p:cNvSpPr/>
          <p:nvPr/>
        </p:nvSpPr>
        <p:spPr>
          <a:xfrm>
            <a:off x="822960" y="2761488"/>
            <a:ext cx="478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[一行の読み取り]</a:t>
            </a:r>
            <a:endParaRPr lang="en-US" sz="1000" dirty="0"/>
          </a:p>
        </p:txBody>
      </p:sp>
      <p:sp>
        <p:nvSpPr>
          <p:cNvPr id="440" name="Shape 13"/>
          <p:cNvSpPr/>
          <p:nvPr/>
        </p:nvSpPr>
        <p:spPr>
          <a:xfrm>
            <a:off x="6324448" y="1481328"/>
            <a:ext cx="5300320" cy="16002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1" name="Text 14"/>
          <p:cNvSpPr/>
          <p:nvPr/>
        </p:nvSpPr>
        <p:spPr>
          <a:xfrm>
            <a:off x="6580480" y="1627632"/>
            <a:ext cx="478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[対象2]</a:t>
            </a:r>
            <a:endParaRPr lang="en-US" sz="1200" dirty="0"/>
          </a:p>
        </p:txBody>
      </p:sp>
      <p:sp>
        <p:nvSpPr>
          <p:cNvPr id="442" name="Shape 15"/>
          <p:cNvSpPr/>
          <p:nvPr/>
        </p:nvSpPr>
        <p:spPr>
          <a:xfrm>
            <a:off x="6735928" y="2331720"/>
            <a:ext cx="671604" cy="356616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3" name="Shape 16"/>
          <p:cNvSpPr/>
          <p:nvPr/>
        </p:nvSpPr>
        <p:spPr>
          <a:xfrm>
            <a:off x="7855267" y="2117750"/>
            <a:ext cx="671604" cy="570586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4" name="Shape 17"/>
          <p:cNvSpPr/>
          <p:nvPr/>
        </p:nvSpPr>
        <p:spPr>
          <a:xfrm>
            <a:off x="8974607" y="2367382"/>
            <a:ext cx="671604" cy="320954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5" name="Shape 18"/>
          <p:cNvSpPr/>
          <p:nvPr/>
        </p:nvSpPr>
        <p:spPr>
          <a:xfrm>
            <a:off x="10093947" y="2189074"/>
            <a:ext cx="671604" cy="499262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6" name="Shape 19"/>
          <p:cNvSpPr/>
          <p:nvPr/>
        </p:nvSpPr>
        <p:spPr>
          <a:xfrm>
            <a:off x="6644488" y="2700274"/>
            <a:ext cx="4660240" cy="12700"/>
          </a:xfrm>
          <a:prstGeom prst="rect">
            <a:avLst/>
          </a:prstGeom>
          <a:solidFill>
            <a:srgbClr val="8A9A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7" name="Text 20"/>
          <p:cNvSpPr/>
          <p:nvPr/>
        </p:nvSpPr>
        <p:spPr>
          <a:xfrm>
            <a:off x="6580480" y="2761488"/>
            <a:ext cx="478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[一行の読み取り]</a:t>
            </a:r>
            <a:endParaRPr lang="en-US" sz="1000" dirty="0"/>
          </a:p>
        </p:txBody>
      </p:sp>
      <p:sp>
        <p:nvSpPr>
          <p:cNvPr id="448" name="Shape 21"/>
          <p:cNvSpPr/>
          <p:nvPr/>
        </p:nvSpPr>
        <p:spPr>
          <a:xfrm>
            <a:off x="566928" y="3401568"/>
            <a:ext cx="5300320" cy="16002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9" name="Text 22"/>
          <p:cNvSpPr/>
          <p:nvPr/>
        </p:nvSpPr>
        <p:spPr>
          <a:xfrm>
            <a:off x="822960" y="3547872"/>
            <a:ext cx="478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[対象3]</a:t>
            </a:r>
            <a:endParaRPr lang="en-US" sz="1200" dirty="0"/>
          </a:p>
        </p:txBody>
      </p:sp>
      <p:sp>
        <p:nvSpPr>
          <p:cNvPr id="450" name="Shape 23"/>
          <p:cNvSpPr/>
          <p:nvPr/>
        </p:nvSpPr>
        <p:spPr>
          <a:xfrm>
            <a:off x="978408" y="4002329"/>
            <a:ext cx="671604" cy="606247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1" name="Shape 24"/>
          <p:cNvSpPr/>
          <p:nvPr/>
        </p:nvSpPr>
        <p:spPr>
          <a:xfrm>
            <a:off x="2097748" y="4180637"/>
            <a:ext cx="671604" cy="427939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2" name="Shape 25"/>
          <p:cNvSpPr/>
          <p:nvPr/>
        </p:nvSpPr>
        <p:spPr>
          <a:xfrm>
            <a:off x="3217088" y="4109314"/>
            <a:ext cx="671604" cy="499262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3" name="Shape 26"/>
          <p:cNvSpPr/>
          <p:nvPr/>
        </p:nvSpPr>
        <p:spPr>
          <a:xfrm>
            <a:off x="4336428" y="4323283"/>
            <a:ext cx="671604" cy="285293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4" name="Shape 27"/>
          <p:cNvSpPr/>
          <p:nvPr/>
        </p:nvSpPr>
        <p:spPr>
          <a:xfrm>
            <a:off x="886968" y="4620514"/>
            <a:ext cx="4660240" cy="12700"/>
          </a:xfrm>
          <a:prstGeom prst="rect">
            <a:avLst/>
          </a:prstGeom>
          <a:solidFill>
            <a:srgbClr val="8A9A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5" name="Text 28"/>
          <p:cNvSpPr/>
          <p:nvPr/>
        </p:nvSpPr>
        <p:spPr>
          <a:xfrm>
            <a:off x="822960" y="4681728"/>
            <a:ext cx="478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[一行の読み取り]</a:t>
            </a:r>
            <a:endParaRPr lang="en-US" sz="1000" dirty="0"/>
          </a:p>
        </p:txBody>
      </p:sp>
      <p:sp>
        <p:nvSpPr>
          <p:cNvPr id="456" name="Shape 29"/>
          <p:cNvSpPr/>
          <p:nvPr/>
        </p:nvSpPr>
        <p:spPr>
          <a:xfrm>
            <a:off x="6324448" y="3401568"/>
            <a:ext cx="5300320" cy="16002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7" name="Text 30"/>
          <p:cNvSpPr/>
          <p:nvPr/>
        </p:nvSpPr>
        <p:spPr>
          <a:xfrm>
            <a:off x="6580480" y="3547872"/>
            <a:ext cx="478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[対象4]</a:t>
            </a:r>
            <a:endParaRPr lang="en-US" sz="1200" dirty="0"/>
          </a:p>
        </p:txBody>
      </p:sp>
      <p:sp>
        <p:nvSpPr>
          <p:cNvPr id="458" name="Shape 31"/>
          <p:cNvSpPr/>
          <p:nvPr/>
        </p:nvSpPr>
        <p:spPr>
          <a:xfrm>
            <a:off x="6735928" y="4323283"/>
            <a:ext cx="671604" cy="285293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9" name="Shape 32"/>
          <p:cNvSpPr/>
          <p:nvPr/>
        </p:nvSpPr>
        <p:spPr>
          <a:xfrm>
            <a:off x="7855267" y="4216298"/>
            <a:ext cx="671604" cy="392278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0" name="Shape 33"/>
          <p:cNvSpPr/>
          <p:nvPr/>
        </p:nvSpPr>
        <p:spPr>
          <a:xfrm>
            <a:off x="8974607" y="3966667"/>
            <a:ext cx="671604" cy="641909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1" name="Shape 34"/>
          <p:cNvSpPr/>
          <p:nvPr/>
        </p:nvSpPr>
        <p:spPr>
          <a:xfrm>
            <a:off x="10093947" y="4073652"/>
            <a:ext cx="671604" cy="534924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2" name="Shape 35"/>
          <p:cNvSpPr/>
          <p:nvPr/>
        </p:nvSpPr>
        <p:spPr>
          <a:xfrm>
            <a:off x="6644488" y="4620514"/>
            <a:ext cx="4660240" cy="12700"/>
          </a:xfrm>
          <a:prstGeom prst="rect">
            <a:avLst/>
          </a:prstGeom>
          <a:solidFill>
            <a:srgbClr val="8A9A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3" name="Text 36"/>
          <p:cNvSpPr/>
          <p:nvPr/>
        </p:nvSpPr>
        <p:spPr>
          <a:xfrm>
            <a:off x="6580480" y="4681728"/>
            <a:ext cx="478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[一行の読み取り]</a:t>
            </a:r>
            <a:endParaRPr lang="en-US" sz="1000" dirty="0"/>
          </a:p>
        </p:txBody>
      </p:sp>
      <p:sp>
        <p:nvSpPr>
          <p:cNvPr id="464" name="Shape 37"/>
          <p:cNvSpPr/>
          <p:nvPr/>
        </p:nvSpPr>
        <p:spPr>
          <a:xfrm>
            <a:off x="566928" y="5358384"/>
            <a:ext cx="11057839" cy="475488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5" name="Text 38"/>
          <p:cNvSpPr/>
          <p:nvPr/>
        </p:nvSpPr>
        <p:spPr>
          <a:xfrm>
            <a:off x="768096" y="5413248"/>
            <a:ext cx="10655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[結論。だから次に何を決めるかを書く]</a:t>
            </a:r>
            <a:endParaRPr lang="en-US" sz="1400" dirty="0"/>
          </a:p>
        </p:txBody>
      </p:sp>
      <p:sp>
        <p:nvSpPr>
          <p:cNvPr id="466" name="Text 39"/>
          <p:cNvSpPr/>
          <p:nvPr/>
        </p:nvSpPr>
        <p:spPr>
          <a:xfrm>
            <a:off x="566928" y="607161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[出所／対象期間／母数 n=／基準日]。無い場合は ※要確認 と明記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4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Shape 0"/>
          <p:cNvSpPr/>
          <p:nvPr/>
        </p:nvSpPr>
        <p:spPr>
          <a:xfrm>
            <a:off x="566928" y="457200"/>
            <a:ext cx="64008" cy="384048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9" name="Text 1"/>
          <p:cNvSpPr/>
          <p:nvPr/>
        </p:nvSpPr>
        <p:spPr>
          <a:xfrm>
            <a:off x="768096" y="384048"/>
            <a:ext cx="108566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[タイトル]</a:t>
            </a:r>
            <a:endParaRPr lang="en-US" sz="3000" dirty="0"/>
          </a:p>
        </p:txBody>
      </p:sp>
      <p:sp>
        <p:nvSpPr>
          <p:cNvPr id="470" name="Text 2"/>
          <p:cNvSpPr/>
          <p:nvPr/>
        </p:nvSpPr>
        <p:spPr>
          <a:xfrm>
            <a:off x="768096" y="987552"/>
            <a:ext cx="108566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[引用と、そこから導く示唆を分けて示す]</a:t>
            </a:r>
            <a:endParaRPr lang="en-US" sz="1300" dirty="0"/>
          </a:p>
        </p:txBody>
      </p:sp>
      <p:sp>
        <p:nvSpPr>
          <p:cNvPr id="471" name="Text 3"/>
          <p:cNvSpPr/>
          <p:nvPr/>
        </p:nvSpPr>
        <p:spPr>
          <a:xfrm>
            <a:off x="566928" y="63459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quote-evidence  ｜  data  ｜  引用と示唆</a:t>
            </a:r>
            <a:endParaRPr lang="en-US" sz="900" dirty="0"/>
          </a:p>
        </p:txBody>
      </p:sp>
      <p:sp>
        <p:nvSpPr>
          <p:cNvPr id="472" name="Text 4"/>
          <p:cNvSpPr/>
          <p:nvPr/>
        </p:nvSpPr>
        <p:spPr>
          <a:xfrm>
            <a:off x="10524744" y="6345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900" dirty="0"/>
          </a:p>
        </p:txBody>
      </p:sp>
      <p:sp>
        <p:nvSpPr>
          <p:cNvPr id="473" name="Shape 5"/>
          <p:cNvSpPr/>
          <p:nvPr/>
        </p:nvSpPr>
        <p:spPr>
          <a:xfrm>
            <a:off x="566928" y="1481328"/>
            <a:ext cx="6766560" cy="2926080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4" name="Text 6"/>
          <p:cNvSpPr/>
          <p:nvPr/>
        </p:nvSpPr>
        <p:spPr>
          <a:xfrm>
            <a:off x="1024128" y="1847088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「[引用文を必要な範囲で]」</a:t>
            </a:r>
            <a:endParaRPr lang="en-US" sz="1700" dirty="0"/>
          </a:p>
        </p:txBody>
      </p:sp>
      <p:sp>
        <p:nvSpPr>
          <p:cNvPr id="475" name="Text 7"/>
          <p:cNvSpPr/>
          <p:nvPr/>
        </p:nvSpPr>
        <p:spPr>
          <a:xfrm>
            <a:off x="1024128" y="376732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 [出所・日付・文脈]</a:t>
            </a:r>
            <a:endParaRPr lang="en-US" sz="1100" dirty="0"/>
          </a:p>
        </p:txBody>
      </p:sp>
      <p:sp>
        <p:nvSpPr>
          <p:cNvPr id="476" name="Text 8"/>
          <p:cNvSpPr/>
          <p:nvPr/>
        </p:nvSpPr>
        <p:spPr>
          <a:xfrm>
            <a:off x="7818120" y="148132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読み手への示唆</a:t>
            </a:r>
            <a:endParaRPr lang="en-US" sz="1200" dirty="0"/>
          </a:p>
        </p:txBody>
      </p:sp>
      <p:sp>
        <p:nvSpPr>
          <p:cNvPr id="477" name="Text 9"/>
          <p:cNvSpPr/>
          <p:nvPr/>
        </p:nvSpPr>
        <p:spPr>
          <a:xfrm>
            <a:off x="7818120" y="1938528"/>
            <a:ext cx="3794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[何が分かるか]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[何は言えないか]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[次の判断]</a:t>
            </a:r>
            <a:endParaRPr lang="en-US" sz="1200" dirty="0"/>
          </a:p>
        </p:txBody>
      </p:sp>
      <p:sp>
        <p:nvSpPr>
          <p:cNvPr id="478" name="Shape 10"/>
          <p:cNvSpPr/>
          <p:nvPr/>
        </p:nvSpPr>
        <p:spPr>
          <a:xfrm>
            <a:off x="566928" y="5358384"/>
            <a:ext cx="11057839" cy="475488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9" name="Text 11"/>
          <p:cNvSpPr/>
          <p:nvPr/>
        </p:nvSpPr>
        <p:spPr>
          <a:xfrm>
            <a:off x="768096" y="5413248"/>
            <a:ext cx="10655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[結論。だから次に何を決めるかを書く]</a:t>
            </a:r>
            <a:endParaRPr lang="en-US" sz="1400" dirty="0"/>
          </a:p>
        </p:txBody>
      </p:sp>
      <p:sp>
        <p:nvSpPr>
          <p:cNvPr id="480" name="Text 12"/>
          <p:cNvSpPr/>
          <p:nvPr/>
        </p:nvSpPr>
        <p:spPr>
          <a:xfrm>
            <a:off x="566928" y="607161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[出所／対象期間／母数 n=／基準日]。無い場合は ※要確認 と明記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4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0"/>
          <p:cNvSpPr/>
          <p:nvPr/>
        </p:nvSpPr>
        <p:spPr>
          <a:xfrm>
            <a:off x="566928" y="457200"/>
            <a:ext cx="64008" cy="384048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3" name="Text 1"/>
          <p:cNvSpPr/>
          <p:nvPr/>
        </p:nvSpPr>
        <p:spPr>
          <a:xfrm>
            <a:off x="768096" y="384048"/>
            <a:ext cx="108566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[タイトル]</a:t>
            </a:r>
            <a:endParaRPr lang="en-US" sz="3000" dirty="0"/>
          </a:p>
        </p:txBody>
      </p:sp>
      <p:sp>
        <p:nvSpPr>
          <p:cNvPr id="484" name="Text 2"/>
          <p:cNvSpPr/>
          <p:nvPr/>
        </p:nvSpPr>
        <p:spPr>
          <a:xfrm>
            <a:off x="768096" y="987552"/>
            <a:ext cx="108566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[五つの工程を一方向の流れで示す]</a:t>
            </a:r>
            <a:endParaRPr lang="en-US" sz="1300" dirty="0"/>
          </a:p>
        </p:txBody>
      </p:sp>
      <p:sp>
        <p:nvSpPr>
          <p:cNvPr id="485" name="Text 3"/>
          <p:cNvSpPr/>
          <p:nvPr/>
        </p:nvSpPr>
        <p:spPr>
          <a:xfrm>
            <a:off x="566928" y="63459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process  ｜  flow  ｜  プロセス</a:t>
            </a:r>
            <a:endParaRPr lang="en-US" sz="900" dirty="0"/>
          </a:p>
        </p:txBody>
      </p:sp>
      <p:sp>
        <p:nvSpPr>
          <p:cNvPr id="486" name="Text 4"/>
          <p:cNvSpPr/>
          <p:nvPr/>
        </p:nvSpPr>
        <p:spPr>
          <a:xfrm>
            <a:off x="10524744" y="6345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900" dirty="0"/>
          </a:p>
        </p:txBody>
      </p:sp>
      <p:sp>
        <p:nvSpPr>
          <p:cNvPr id="487" name="Shape 5"/>
          <p:cNvSpPr/>
          <p:nvPr/>
        </p:nvSpPr>
        <p:spPr>
          <a:xfrm>
            <a:off x="566928" y="1481328"/>
            <a:ext cx="1882384" cy="187452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8" name="Text 6"/>
          <p:cNvSpPr/>
          <p:nvPr/>
        </p:nvSpPr>
        <p:spPr>
          <a:xfrm>
            <a:off x="822960" y="1700784"/>
            <a:ext cx="137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489" name="Text 7"/>
          <p:cNvSpPr/>
          <p:nvPr/>
        </p:nvSpPr>
        <p:spPr>
          <a:xfrm>
            <a:off x="822960" y="2048256"/>
            <a:ext cx="137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[工程名]</a:t>
            </a:r>
            <a:endParaRPr lang="en-US" sz="1900" dirty="0"/>
          </a:p>
        </p:txBody>
      </p:sp>
      <p:sp>
        <p:nvSpPr>
          <p:cNvPr id="490" name="Text 8"/>
          <p:cNvSpPr/>
          <p:nvPr/>
        </p:nvSpPr>
        <p:spPr>
          <a:xfrm>
            <a:off x="822960" y="2487168"/>
            <a:ext cx="137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[主な処理・完了条件]</a:t>
            </a:r>
            <a:endParaRPr lang="en-US" sz="1100" dirty="0"/>
          </a:p>
        </p:txBody>
      </p:sp>
      <p:sp>
        <p:nvSpPr>
          <p:cNvPr id="491" name="Text 9"/>
          <p:cNvSpPr/>
          <p:nvPr/>
        </p:nvSpPr>
        <p:spPr>
          <a:xfrm>
            <a:off x="2484618" y="2281936"/>
            <a:ext cx="340868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492" name="Shape 10"/>
          <p:cNvSpPr/>
          <p:nvPr/>
        </p:nvSpPr>
        <p:spPr>
          <a:xfrm>
            <a:off x="2860792" y="1481328"/>
            <a:ext cx="1882384" cy="187452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3" name="Text 11"/>
          <p:cNvSpPr/>
          <p:nvPr/>
        </p:nvSpPr>
        <p:spPr>
          <a:xfrm>
            <a:off x="3116824" y="1700784"/>
            <a:ext cx="137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494" name="Text 12"/>
          <p:cNvSpPr/>
          <p:nvPr/>
        </p:nvSpPr>
        <p:spPr>
          <a:xfrm>
            <a:off x="3116824" y="2048256"/>
            <a:ext cx="137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[工程名]</a:t>
            </a:r>
            <a:endParaRPr lang="en-US" sz="1900" dirty="0"/>
          </a:p>
        </p:txBody>
      </p:sp>
      <p:sp>
        <p:nvSpPr>
          <p:cNvPr id="495" name="Text 13"/>
          <p:cNvSpPr/>
          <p:nvPr/>
        </p:nvSpPr>
        <p:spPr>
          <a:xfrm>
            <a:off x="3116824" y="2487168"/>
            <a:ext cx="137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[主な処理・完了条件]</a:t>
            </a:r>
            <a:endParaRPr lang="en-US" sz="1100" dirty="0"/>
          </a:p>
        </p:txBody>
      </p:sp>
      <p:sp>
        <p:nvSpPr>
          <p:cNvPr id="496" name="Text 14"/>
          <p:cNvSpPr/>
          <p:nvPr/>
        </p:nvSpPr>
        <p:spPr>
          <a:xfrm>
            <a:off x="4778482" y="2281936"/>
            <a:ext cx="340868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497" name="Shape 15"/>
          <p:cNvSpPr/>
          <p:nvPr/>
        </p:nvSpPr>
        <p:spPr>
          <a:xfrm>
            <a:off x="5154656" y="1481328"/>
            <a:ext cx="1882384" cy="187452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8" name="Text 16"/>
          <p:cNvSpPr/>
          <p:nvPr/>
        </p:nvSpPr>
        <p:spPr>
          <a:xfrm>
            <a:off x="5410688" y="1700784"/>
            <a:ext cx="137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499" name="Text 17"/>
          <p:cNvSpPr/>
          <p:nvPr/>
        </p:nvSpPr>
        <p:spPr>
          <a:xfrm>
            <a:off x="5410688" y="2048256"/>
            <a:ext cx="137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[工程名]</a:t>
            </a:r>
            <a:endParaRPr lang="en-US" sz="1900" dirty="0"/>
          </a:p>
        </p:txBody>
      </p:sp>
      <p:sp>
        <p:nvSpPr>
          <p:cNvPr id="500" name="Text 18"/>
          <p:cNvSpPr/>
          <p:nvPr/>
        </p:nvSpPr>
        <p:spPr>
          <a:xfrm>
            <a:off x="5410688" y="2487168"/>
            <a:ext cx="137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[主な処理・完了条件]</a:t>
            </a:r>
            <a:endParaRPr lang="en-US" sz="1100" dirty="0"/>
          </a:p>
        </p:txBody>
      </p:sp>
      <p:sp>
        <p:nvSpPr>
          <p:cNvPr id="501" name="Text 19"/>
          <p:cNvSpPr/>
          <p:nvPr/>
        </p:nvSpPr>
        <p:spPr>
          <a:xfrm>
            <a:off x="7072346" y="2281936"/>
            <a:ext cx="340868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502" name="Shape 20"/>
          <p:cNvSpPr/>
          <p:nvPr/>
        </p:nvSpPr>
        <p:spPr>
          <a:xfrm>
            <a:off x="7448520" y="1481328"/>
            <a:ext cx="1882384" cy="1874520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3" name="Text 21"/>
          <p:cNvSpPr/>
          <p:nvPr/>
        </p:nvSpPr>
        <p:spPr>
          <a:xfrm>
            <a:off x="7704552" y="1700784"/>
            <a:ext cx="137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504" name="Text 22"/>
          <p:cNvSpPr/>
          <p:nvPr/>
        </p:nvSpPr>
        <p:spPr>
          <a:xfrm>
            <a:off x="7704552" y="2048256"/>
            <a:ext cx="137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[工程名]</a:t>
            </a:r>
            <a:endParaRPr lang="en-US" sz="1900" dirty="0"/>
          </a:p>
        </p:txBody>
      </p:sp>
      <p:sp>
        <p:nvSpPr>
          <p:cNvPr id="505" name="Text 23"/>
          <p:cNvSpPr/>
          <p:nvPr/>
        </p:nvSpPr>
        <p:spPr>
          <a:xfrm>
            <a:off x="7704552" y="2487168"/>
            <a:ext cx="137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[主な処理・完了条件]</a:t>
            </a:r>
            <a:endParaRPr lang="en-US" sz="1100" dirty="0"/>
          </a:p>
        </p:txBody>
      </p:sp>
      <p:sp>
        <p:nvSpPr>
          <p:cNvPr id="506" name="Text 24"/>
          <p:cNvSpPr/>
          <p:nvPr/>
        </p:nvSpPr>
        <p:spPr>
          <a:xfrm>
            <a:off x="9366209" y="2281936"/>
            <a:ext cx="340868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507" name="Shape 25"/>
          <p:cNvSpPr/>
          <p:nvPr/>
        </p:nvSpPr>
        <p:spPr>
          <a:xfrm>
            <a:off x="9742383" y="1481328"/>
            <a:ext cx="1882384" cy="187452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8" name="Text 26"/>
          <p:cNvSpPr/>
          <p:nvPr/>
        </p:nvSpPr>
        <p:spPr>
          <a:xfrm>
            <a:off x="9998415" y="1700784"/>
            <a:ext cx="137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200" dirty="0"/>
          </a:p>
        </p:txBody>
      </p:sp>
      <p:sp>
        <p:nvSpPr>
          <p:cNvPr id="509" name="Text 27"/>
          <p:cNvSpPr/>
          <p:nvPr/>
        </p:nvSpPr>
        <p:spPr>
          <a:xfrm>
            <a:off x="9998415" y="2048256"/>
            <a:ext cx="137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[工程名]</a:t>
            </a:r>
            <a:endParaRPr lang="en-US" sz="1900" dirty="0"/>
          </a:p>
        </p:txBody>
      </p:sp>
      <p:sp>
        <p:nvSpPr>
          <p:cNvPr id="510" name="Text 28"/>
          <p:cNvSpPr/>
          <p:nvPr/>
        </p:nvSpPr>
        <p:spPr>
          <a:xfrm>
            <a:off x="9998415" y="2487168"/>
            <a:ext cx="137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[主な処理・完了条件]</a:t>
            </a:r>
            <a:endParaRPr lang="en-US" sz="1100" dirty="0"/>
          </a:p>
        </p:txBody>
      </p:sp>
      <p:sp>
        <p:nvSpPr>
          <p:cNvPr id="511" name="Text 29"/>
          <p:cNvSpPr/>
          <p:nvPr/>
        </p:nvSpPr>
        <p:spPr>
          <a:xfrm>
            <a:off x="566928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AIが担う範囲</a:t>
            </a:r>
            <a:endParaRPr lang="en-US" sz="1200" dirty="0"/>
          </a:p>
        </p:txBody>
      </p:sp>
      <p:sp>
        <p:nvSpPr>
          <p:cNvPr id="512" name="Text 30"/>
          <p:cNvSpPr/>
          <p:nvPr/>
        </p:nvSpPr>
        <p:spPr>
          <a:xfrm>
            <a:off x="744852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人が担う範囲</a:t>
            </a:r>
            <a:endParaRPr lang="en-US" sz="1200" dirty="0"/>
          </a:p>
        </p:txBody>
      </p:sp>
      <p:sp>
        <p:nvSpPr>
          <p:cNvPr id="513" name="Shape 31"/>
          <p:cNvSpPr/>
          <p:nvPr/>
        </p:nvSpPr>
        <p:spPr>
          <a:xfrm>
            <a:off x="566928" y="4096512"/>
            <a:ext cx="6470112" cy="36576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4" name="Text 32"/>
          <p:cNvSpPr/>
          <p:nvPr/>
        </p:nvSpPr>
        <p:spPr>
          <a:xfrm>
            <a:off x="749808" y="4096512"/>
            <a:ext cx="5647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[決定的処理と分類の提案まで]</a:t>
            </a:r>
            <a:endParaRPr lang="en-US" sz="1100" dirty="0"/>
          </a:p>
        </p:txBody>
      </p:sp>
      <p:sp>
        <p:nvSpPr>
          <p:cNvPr id="515" name="Shape 33"/>
          <p:cNvSpPr/>
          <p:nvPr/>
        </p:nvSpPr>
        <p:spPr>
          <a:xfrm>
            <a:off x="7448520" y="4096512"/>
            <a:ext cx="4176248" cy="365760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6" name="Text 34"/>
          <p:cNvSpPr/>
          <p:nvPr/>
        </p:nvSpPr>
        <p:spPr>
          <a:xfrm>
            <a:off x="7631400" y="4096512"/>
            <a:ext cx="3764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7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[判断と記録の承認]</a:t>
            </a:r>
            <a:endParaRPr lang="en-US" sz="1100" dirty="0"/>
          </a:p>
        </p:txBody>
      </p:sp>
      <p:sp>
        <p:nvSpPr>
          <p:cNvPr id="517" name="Shape 35"/>
          <p:cNvSpPr/>
          <p:nvPr/>
        </p:nvSpPr>
        <p:spPr>
          <a:xfrm>
            <a:off x="566928" y="5358384"/>
            <a:ext cx="11057839" cy="475488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8" name="Text 36"/>
          <p:cNvSpPr/>
          <p:nvPr/>
        </p:nvSpPr>
        <p:spPr>
          <a:xfrm>
            <a:off x="768096" y="5413248"/>
            <a:ext cx="10655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[結論。だから次に何を決めるかを書く]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5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Shape 0"/>
          <p:cNvSpPr/>
          <p:nvPr/>
        </p:nvSpPr>
        <p:spPr>
          <a:xfrm>
            <a:off x="566928" y="457200"/>
            <a:ext cx="64008" cy="384048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1" name="Text 1"/>
          <p:cNvSpPr/>
          <p:nvPr/>
        </p:nvSpPr>
        <p:spPr>
          <a:xfrm>
            <a:off x="768096" y="384048"/>
            <a:ext cx="108566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[タイトル]</a:t>
            </a:r>
            <a:endParaRPr lang="en-US" sz="3000" dirty="0"/>
          </a:p>
        </p:txBody>
      </p:sp>
      <p:sp>
        <p:nvSpPr>
          <p:cNvPr id="522" name="Text 2"/>
          <p:cNvSpPr/>
          <p:nvPr/>
        </p:nvSpPr>
        <p:spPr>
          <a:xfrm>
            <a:off x="768096" y="987552"/>
            <a:ext cx="108566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[役割ごとの工程を同じ時間軸で示す]</a:t>
            </a:r>
            <a:endParaRPr lang="en-US" sz="1300" dirty="0"/>
          </a:p>
        </p:txBody>
      </p:sp>
      <p:sp>
        <p:nvSpPr>
          <p:cNvPr id="523" name="Text 3"/>
          <p:cNvSpPr/>
          <p:nvPr/>
        </p:nvSpPr>
        <p:spPr>
          <a:xfrm>
            <a:off x="566928" y="63459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process-swimlane  ｜  flow  ｜  スイムレーン</a:t>
            </a:r>
            <a:endParaRPr lang="en-US" sz="900" dirty="0"/>
          </a:p>
        </p:txBody>
      </p:sp>
      <p:sp>
        <p:nvSpPr>
          <p:cNvPr id="524" name="Text 4"/>
          <p:cNvSpPr/>
          <p:nvPr/>
        </p:nvSpPr>
        <p:spPr>
          <a:xfrm>
            <a:off x="10524744" y="6345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900" dirty="0"/>
          </a:p>
        </p:txBody>
      </p:sp>
      <p:sp>
        <p:nvSpPr>
          <p:cNvPr id="525" name="Shape 5"/>
          <p:cNvSpPr/>
          <p:nvPr/>
        </p:nvSpPr>
        <p:spPr>
          <a:xfrm>
            <a:off x="566928" y="1481328"/>
            <a:ext cx="192024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6" name="Text 6"/>
          <p:cNvSpPr/>
          <p:nvPr/>
        </p:nvSpPr>
        <p:spPr>
          <a:xfrm>
            <a:off x="713232" y="148132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[主体1]</a:t>
            </a:r>
            <a:endParaRPr lang="en-US" sz="1200" dirty="0"/>
          </a:p>
        </p:txBody>
      </p:sp>
      <p:sp>
        <p:nvSpPr>
          <p:cNvPr id="527" name="Shape 7"/>
          <p:cNvSpPr/>
          <p:nvPr/>
        </p:nvSpPr>
        <p:spPr>
          <a:xfrm>
            <a:off x="2743200" y="1627632"/>
            <a:ext cx="1909496" cy="530352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8" name="Text 8"/>
          <p:cNvSpPr/>
          <p:nvPr/>
        </p:nvSpPr>
        <p:spPr>
          <a:xfrm>
            <a:off x="2852928" y="1627632"/>
            <a:ext cx="169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[工程]</a:t>
            </a:r>
            <a:endParaRPr lang="en-US" sz="1100" dirty="0"/>
          </a:p>
        </p:txBody>
      </p:sp>
      <p:sp>
        <p:nvSpPr>
          <p:cNvPr id="529" name="Text 9"/>
          <p:cNvSpPr/>
          <p:nvPr/>
        </p:nvSpPr>
        <p:spPr>
          <a:xfrm>
            <a:off x="4619422" y="1751584"/>
            <a:ext cx="340868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530" name="Shape 10"/>
          <p:cNvSpPr/>
          <p:nvPr/>
        </p:nvSpPr>
        <p:spPr>
          <a:xfrm>
            <a:off x="4981880" y="1627632"/>
            <a:ext cx="1909496" cy="530352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1" name="Text 11"/>
          <p:cNvSpPr/>
          <p:nvPr/>
        </p:nvSpPr>
        <p:spPr>
          <a:xfrm>
            <a:off x="5091608" y="1627632"/>
            <a:ext cx="169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[工程]</a:t>
            </a:r>
            <a:endParaRPr lang="en-US" sz="1100" dirty="0"/>
          </a:p>
        </p:txBody>
      </p:sp>
      <p:sp>
        <p:nvSpPr>
          <p:cNvPr id="532" name="Shape 12"/>
          <p:cNvSpPr/>
          <p:nvPr/>
        </p:nvSpPr>
        <p:spPr>
          <a:xfrm>
            <a:off x="566928" y="2441448"/>
            <a:ext cx="192024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3" name="Text 13"/>
          <p:cNvSpPr/>
          <p:nvPr/>
        </p:nvSpPr>
        <p:spPr>
          <a:xfrm>
            <a:off x="713232" y="244144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[主体2]</a:t>
            </a:r>
            <a:endParaRPr lang="en-US" sz="1200" dirty="0"/>
          </a:p>
        </p:txBody>
      </p:sp>
      <p:sp>
        <p:nvSpPr>
          <p:cNvPr id="534" name="Shape 14"/>
          <p:cNvSpPr/>
          <p:nvPr/>
        </p:nvSpPr>
        <p:spPr>
          <a:xfrm>
            <a:off x="4981880" y="2587752"/>
            <a:ext cx="1909496" cy="530352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5" name="Text 15"/>
          <p:cNvSpPr/>
          <p:nvPr/>
        </p:nvSpPr>
        <p:spPr>
          <a:xfrm>
            <a:off x="5091608" y="2587752"/>
            <a:ext cx="169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[工程]</a:t>
            </a:r>
            <a:endParaRPr lang="en-US" sz="1100" dirty="0"/>
          </a:p>
        </p:txBody>
      </p:sp>
      <p:sp>
        <p:nvSpPr>
          <p:cNvPr id="536" name="Text 16"/>
          <p:cNvSpPr/>
          <p:nvPr/>
        </p:nvSpPr>
        <p:spPr>
          <a:xfrm>
            <a:off x="6858102" y="2711704"/>
            <a:ext cx="340868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537" name="Shape 17"/>
          <p:cNvSpPr/>
          <p:nvPr/>
        </p:nvSpPr>
        <p:spPr>
          <a:xfrm>
            <a:off x="7220560" y="2587752"/>
            <a:ext cx="1909496" cy="530352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8" name="Text 18"/>
          <p:cNvSpPr/>
          <p:nvPr/>
        </p:nvSpPr>
        <p:spPr>
          <a:xfrm>
            <a:off x="7330288" y="2587752"/>
            <a:ext cx="169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[工程]</a:t>
            </a:r>
            <a:endParaRPr lang="en-US" sz="1100" dirty="0"/>
          </a:p>
        </p:txBody>
      </p:sp>
      <p:sp>
        <p:nvSpPr>
          <p:cNvPr id="539" name="Shape 19"/>
          <p:cNvSpPr/>
          <p:nvPr/>
        </p:nvSpPr>
        <p:spPr>
          <a:xfrm>
            <a:off x="566928" y="3401568"/>
            <a:ext cx="1920240" cy="822960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0" name="Text 20"/>
          <p:cNvSpPr/>
          <p:nvPr/>
        </p:nvSpPr>
        <p:spPr>
          <a:xfrm>
            <a:off x="713232" y="340156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[主体3]</a:t>
            </a:r>
            <a:endParaRPr lang="en-US" sz="1200" dirty="0"/>
          </a:p>
        </p:txBody>
      </p:sp>
      <p:sp>
        <p:nvSpPr>
          <p:cNvPr id="541" name="Shape 21"/>
          <p:cNvSpPr/>
          <p:nvPr/>
        </p:nvSpPr>
        <p:spPr>
          <a:xfrm>
            <a:off x="9459239" y="3547872"/>
            <a:ext cx="1909496" cy="530352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2" name="Text 22"/>
          <p:cNvSpPr/>
          <p:nvPr/>
        </p:nvSpPr>
        <p:spPr>
          <a:xfrm>
            <a:off x="9568967" y="3547872"/>
            <a:ext cx="169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[工程]</a:t>
            </a:r>
            <a:endParaRPr lang="en-US" sz="1100" dirty="0"/>
          </a:p>
        </p:txBody>
      </p:sp>
      <p:sp>
        <p:nvSpPr>
          <p:cNvPr id="543" name="Shape 23"/>
          <p:cNvSpPr/>
          <p:nvPr/>
        </p:nvSpPr>
        <p:spPr>
          <a:xfrm>
            <a:off x="566928" y="4498848"/>
            <a:ext cx="11057839" cy="45720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4" name="Text 24"/>
          <p:cNvSpPr/>
          <p:nvPr/>
        </p:nvSpPr>
        <p:spPr>
          <a:xfrm>
            <a:off x="795528" y="4498848"/>
            <a:ext cx="106006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[受け渡し条件・承認ルール]</a:t>
            </a:r>
            <a:endParaRPr lang="en-US" sz="1100" dirty="0"/>
          </a:p>
        </p:txBody>
      </p:sp>
      <p:sp>
        <p:nvSpPr>
          <p:cNvPr id="545" name="Shape 25"/>
          <p:cNvSpPr/>
          <p:nvPr/>
        </p:nvSpPr>
        <p:spPr>
          <a:xfrm>
            <a:off x="566928" y="5358384"/>
            <a:ext cx="11057839" cy="475488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6" name="Text 26"/>
          <p:cNvSpPr/>
          <p:nvPr/>
        </p:nvSpPr>
        <p:spPr>
          <a:xfrm>
            <a:off x="768096" y="5413248"/>
            <a:ext cx="10655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[結論。だから次に何を決めるかを書く]</a:t>
            </a:r>
            <a:endParaRPr lang="en-US" sz="1400" dirty="0"/>
          </a:p>
        </p:txBody>
      </p:sp>
      <p:sp>
        <p:nvSpPr>
          <p:cNvPr id="547" name="Text 27"/>
          <p:cNvSpPr/>
          <p:nvPr/>
        </p:nvSpPr>
        <p:spPr>
          <a:xfrm>
            <a:off x="566928" y="607161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[出所／対象期間／母数 n=／基準日]。無い場合は ※要確認 と明記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5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Shape 0"/>
          <p:cNvSpPr/>
          <p:nvPr/>
        </p:nvSpPr>
        <p:spPr>
          <a:xfrm>
            <a:off x="566928" y="457200"/>
            <a:ext cx="64008" cy="384048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0" name="Text 1"/>
          <p:cNvSpPr/>
          <p:nvPr/>
        </p:nvSpPr>
        <p:spPr>
          <a:xfrm>
            <a:off x="768096" y="384048"/>
            <a:ext cx="108566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[タイトル]</a:t>
            </a:r>
            <a:endParaRPr lang="en-US" sz="3000" dirty="0"/>
          </a:p>
        </p:txBody>
      </p:sp>
      <p:sp>
        <p:nvSpPr>
          <p:cNvPr id="551" name="Text 2"/>
          <p:cNvSpPr/>
          <p:nvPr/>
        </p:nvSpPr>
        <p:spPr>
          <a:xfrm>
            <a:off x="768096" y="987552"/>
            <a:ext cx="108566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[複数の作業と判断点を同じ時間軸で示す]</a:t>
            </a:r>
            <a:endParaRPr lang="en-US" sz="1300" dirty="0"/>
          </a:p>
        </p:txBody>
      </p:sp>
      <p:sp>
        <p:nvSpPr>
          <p:cNvPr id="552" name="Text 3"/>
          <p:cNvSpPr/>
          <p:nvPr/>
        </p:nvSpPr>
        <p:spPr>
          <a:xfrm>
            <a:off x="566928" y="63459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timeline-roadmap  ｜  flow  ｜  ロードマップ</a:t>
            </a:r>
            <a:endParaRPr lang="en-US" sz="900" dirty="0"/>
          </a:p>
        </p:txBody>
      </p:sp>
      <p:sp>
        <p:nvSpPr>
          <p:cNvPr id="553" name="Text 4"/>
          <p:cNvSpPr/>
          <p:nvPr/>
        </p:nvSpPr>
        <p:spPr>
          <a:xfrm>
            <a:off x="10524744" y="6345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</a:t>
            </a:r>
            <a:endParaRPr lang="en-US" sz="900" dirty="0"/>
          </a:p>
        </p:txBody>
      </p:sp>
      <p:sp>
        <p:nvSpPr>
          <p:cNvPr id="554" name="Text 5"/>
          <p:cNvSpPr/>
          <p:nvPr/>
        </p:nvSpPr>
        <p:spPr>
          <a:xfrm>
            <a:off x="2761488" y="1481328"/>
            <a:ext cx="14772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[第1期]</a:t>
            </a:r>
            <a:endParaRPr lang="en-US" sz="1100" dirty="0"/>
          </a:p>
        </p:txBody>
      </p:sp>
      <p:sp>
        <p:nvSpPr>
          <p:cNvPr id="555" name="Text 6"/>
          <p:cNvSpPr/>
          <p:nvPr/>
        </p:nvSpPr>
        <p:spPr>
          <a:xfrm>
            <a:off x="4238701" y="1481328"/>
            <a:ext cx="14772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[第2期]</a:t>
            </a:r>
            <a:endParaRPr lang="en-US" sz="1100" dirty="0"/>
          </a:p>
        </p:txBody>
      </p:sp>
      <p:sp>
        <p:nvSpPr>
          <p:cNvPr id="556" name="Shape 7"/>
          <p:cNvSpPr/>
          <p:nvPr/>
        </p:nvSpPr>
        <p:spPr>
          <a:xfrm>
            <a:off x="4232351" y="1792224"/>
            <a:ext cx="12700" cy="2926080"/>
          </a:xfrm>
          <a:prstGeom prst="rect">
            <a:avLst/>
          </a:prstGeom>
          <a:solidFill>
            <a:srgbClr val="D8DE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7" name="Text 8"/>
          <p:cNvSpPr/>
          <p:nvPr/>
        </p:nvSpPr>
        <p:spPr>
          <a:xfrm>
            <a:off x="5715914" y="1481328"/>
            <a:ext cx="14772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[第3期]</a:t>
            </a:r>
            <a:endParaRPr lang="en-US" sz="1100" dirty="0"/>
          </a:p>
        </p:txBody>
      </p:sp>
      <p:sp>
        <p:nvSpPr>
          <p:cNvPr id="558" name="Shape 9"/>
          <p:cNvSpPr/>
          <p:nvPr/>
        </p:nvSpPr>
        <p:spPr>
          <a:xfrm>
            <a:off x="5709564" y="1792224"/>
            <a:ext cx="12700" cy="2926080"/>
          </a:xfrm>
          <a:prstGeom prst="rect">
            <a:avLst/>
          </a:prstGeom>
          <a:solidFill>
            <a:srgbClr val="D8DE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9" name="Text 10"/>
          <p:cNvSpPr/>
          <p:nvPr/>
        </p:nvSpPr>
        <p:spPr>
          <a:xfrm>
            <a:off x="7193128" y="1481328"/>
            <a:ext cx="14772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[第4期]</a:t>
            </a:r>
            <a:endParaRPr lang="en-US" sz="1100" dirty="0"/>
          </a:p>
        </p:txBody>
      </p:sp>
      <p:sp>
        <p:nvSpPr>
          <p:cNvPr id="560" name="Shape 11"/>
          <p:cNvSpPr/>
          <p:nvPr/>
        </p:nvSpPr>
        <p:spPr>
          <a:xfrm>
            <a:off x="7186778" y="1792224"/>
            <a:ext cx="12700" cy="2926080"/>
          </a:xfrm>
          <a:prstGeom prst="rect">
            <a:avLst/>
          </a:prstGeom>
          <a:solidFill>
            <a:srgbClr val="D8DE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1" name="Text 12"/>
          <p:cNvSpPr/>
          <p:nvPr/>
        </p:nvSpPr>
        <p:spPr>
          <a:xfrm>
            <a:off x="8670341" y="1481328"/>
            <a:ext cx="14772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[第5期]</a:t>
            </a:r>
            <a:endParaRPr lang="en-US" sz="1100" dirty="0"/>
          </a:p>
        </p:txBody>
      </p:sp>
      <p:sp>
        <p:nvSpPr>
          <p:cNvPr id="562" name="Shape 13"/>
          <p:cNvSpPr/>
          <p:nvPr/>
        </p:nvSpPr>
        <p:spPr>
          <a:xfrm>
            <a:off x="8663991" y="1792224"/>
            <a:ext cx="12700" cy="2926080"/>
          </a:xfrm>
          <a:prstGeom prst="rect">
            <a:avLst/>
          </a:prstGeom>
          <a:solidFill>
            <a:srgbClr val="D8DE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3" name="Text 14"/>
          <p:cNvSpPr/>
          <p:nvPr/>
        </p:nvSpPr>
        <p:spPr>
          <a:xfrm>
            <a:off x="10147554" y="1481328"/>
            <a:ext cx="14772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[第6期]</a:t>
            </a:r>
            <a:endParaRPr lang="en-US" sz="1100" dirty="0"/>
          </a:p>
        </p:txBody>
      </p:sp>
      <p:sp>
        <p:nvSpPr>
          <p:cNvPr id="564" name="Shape 15"/>
          <p:cNvSpPr/>
          <p:nvPr/>
        </p:nvSpPr>
        <p:spPr>
          <a:xfrm>
            <a:off x="10141204" y="1792224"/>
            <a:ext cx="12700" cy="2926080"/>
          </a:xfrm>
          <a:prstGeom prst="rect">
            <a:avLst/>
          </a:prstGeom>
          <a:solidFill>
            <a:srgbClr val="D8DE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5" name="Shape 16"/>
          <p:cNvSpPr/>
          <p:nvPr/>
        </p:nvSpPr>
        <p:spPr>
          <a:xfrm>
            <a:off x="566928" y="1892808"/>
            <a:ext cx="2011680" cy="512064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6" name="Text 17"/>
          <p:cNvSpPr/>
          <p:nvPr/>
        </p:nvSpPr>
        <p:spPr>
          <a:xfrm>
            <a:off x="713232" y="189280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[主体1]</a:t>
            </a:r>
            <a:endParaRPr lang="en-US" sz="1100" dirty="0"/>
          </a:p>
        </p:txBody>
      </p:sp>
      <p:sp>
        <p:nvSpPr>
          <p:cNvPr id="567" name="Shape 18"/>
          <p:cNvSpPr/>
          <p:nvPr/>
        </p:nvSpPr>
        <p:spPr>
          <a:xfrm>
            <a:off x="2807208" y="1993392"/>
            <a:ext cx="2862986" cy="310896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8" name="Text 19"/>
          <p:cNvSpPr/>
          <p:nvPr/>
        </p:nvSpPr>
        <p:spPr>
          <a:xfrm>
            <a:off x="2944368" y="1993392"/>
            <a:ext cx="25886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[作業名]</a:t>
            </a:r>
            <a:endParaRPr lang="en-US" sz="1000" dirty="0"/>
          </a:p>
        </p:txBody>
      </p:sp>
      <p:sp>
        <p:nvSpPr>
          <p:cNvPr id="569" name="Shape 20"/>
          <p:cNvSpPr/>
          <p:nvPr/>
        </p:nvSpPr>
        <p:spPr>
          <a:xfrm>
            <a:off x="566928" y="2551176"/>
            <a:ext cx="2011680" cy="512064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0" name="Text 21"/>
          <p:cNvSpPr/>
          <p:nvPr/>
        </p:nvSpPr>
        <p:spPr>
          <a:xfrm>
            <a:off x="713232" y="255117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[主体2]</a:t>
            </a:r>
            <a:endParaRPr lang="en-US" sz="1100" dirty="0"/>
          </a:p>
        </p:txBody>
      </p:sp>
      <p:sp>
        <p:nvSpPr>
          <p:cNvPr id="571" name="Shape 22"/>
          <p:cNvSpPr/>
          <p:nvPr/>
        </p:nvSpPr>
        <p:spPr>
          <a:xfrm>
            <a:off x="4284421" y="2651760"/>
            <a:ext cx="2862986" cy="310896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2" name="Text 23"/>
          <p:cNvSpPr/>
          <p:nvPr/>
        </p:nvSpPr>
        <p:spPr>
          <a:xfrm>
            <a:off x="4421581" y="2651760"/>
            <a:ext cx="25886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[作業名]</a:t>
            </a:r>
            <a:endParaRPr lang="en-US" sz="1000" dirty="0"/>
          </a:p>
        </p:txBody>
      </p:sp>
      <p:sp>
        <p:nvSpPr>
          <p:cNvPr id="573" name="Shape 24"/>
          <p:cNvSpPr/>
          <p:nvPr/>
        </p:nvSpPr>
        <p:spPr>
          <a:xfrm>
            <a:off x="566928" y="3209544"/>
            <a:ext cx="2011680" cy="512064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4" name="Text 25"/>
          <p:cNvSpPr/>
          <p:nvPr/>
        </p:nvSpPr>
        <p:spPr>
          <a:xfrm>
            <a:off x="713232" y="3209544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[主体3]</a:t>
            </a:r>
            <a:endParaRPr lang="en-US" sz="1100" dirty="0"/>
          </a:p>
        </p:txBody>
      </p:sp>
      <p:sp>
        <p:nvSpPr>
          <p:cNvPr id="575" name="Shape 26"/>
          <p:cNvSpPr/>
          <p:nvPr/>
        </p:nvSpPr>
        <p:spPr>
          <a:xfrm>
            <a:off x="5761634" y="3310128"/>
            <a:ext cx="3453872" cy="310896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6" name="Text 27"/>
          <p:cNvSpPr/>
          <p:nvPr/>
        </p:nvSpPr>
        <p:spPr>
          <a:xfrm>
            <a:off x="5898794" y="3310128"/>
            <a:ext cx="3179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[作業名]</a:t>
            </a:r>
            <a:endParaRPr lang="en-US" sz="1000" dirty="0"/>
          </a:p>
        </p:txBody>
      </p:sp>
      <p:sp>
        <p:nvSpPr>
          <p:cNvPr id="577" name="Shape 28"/>
          <p:cNvSpPr/>
          <p:nvPr/>
        </p:nvSpPr>
        <p:spPr>
          <a:xfrm>
            <a:off x="566928" y="3867912"/>
            <a:ext cx="2011680" cy="512064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8" name="Text 29"/>
          <p:cNvSpPr/>
          <p:nvPr/>
        </p:nvSpPr>
        <p:spPr>
          <a:xfrm>
            <a:off x="713232" y="386791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[主体4]</a:t>
            </a:r>
            <a:endParaRPr lang="en-US" sz="1100" dirty="0"/>
          </a:p>
        </p:txBody>
      </p:sp>
      <p:sp>
        <p:nvSpPr>
          <p:cNvPr id="579" name="Shape 30"/>
          <p:cNvSpPr/>
          <p:nvPr/>
        </p:nvSpPr>
        <p:spPr>
          <a:xfrm>
            <a:off x="8716061" y="3968496"/>
            <a:ext cx="2272101" cy="310896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0" name="Text 31"/>
          <p:cNvSpPr/>
          <p:nvPr/>
        </p:nvSpPr>
        <p:spPr>
          <a:xfrm>
            <a:off x="8853221" y="3968496"/>
            <a:ext cx="19977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[作業名]</a:t>
            </a:r>
            <a:endParaRPr lang="en-US" sz="1000" dirty="0"/>
          </a:p>
        </p:txBody>
      </p:sp>
      <p:sp>
        <p:nvSpPr>
          <p:cNvPr id="581" name="Shape 32"/>
          <p:cNvSpPr/>
          <p:nvPr/>
        </p:nvSpPr>
        <p:spPr>
          <a:xfrm>
            <a:off x="5703214" y="1792224"/>
            <a:ext cx="25400" cy="82296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2" name="Shape 33"/>
          <p:cNvSpPr/>
          <p:nvPr/>
        </p:nvSpPr>
        <p:spPr>
          <a:xfrm>
            <a:off x="5703214" y="1929384"/>
            <a:ext cx="25400" cy="82296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3" name="Shape 34"/>
          <p:cNvSpPr/>
          <p:nvPr/>
        </p:nvSpPr>
        <p:spPr>
          <a:xfrm>
            <a:off x="5703214" y="2066544"/>
            <a:ext cx="25400" cy="82296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4" name="Shape 35"/>
          <p:cNvSpPr/>
          <p:nvPr/>
        </p:nvSpPr>
        <p:spPr>
          <a:xfrm>
            <a:off x="5703214" y="2203704"/>
            <a:ext cx="25400" cy="82296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5" name="Shape 36"/>
          <p:cNvSpPr/>
          <p:nvPr/>
        </p:nvSpPr>
        <p:spPr>
          <a:xfrm>
            <a:off x="5703214" y="2340864"/>
            <a:ext cx="25400" cy="82296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6" name="Shape 37"/>
          <p:cNvSpPr/>
          <p:nvPr/>
        </p:nvSpPr>
        <p:spPr>
          <a:xfrm>
            <a:off x="5703214" y="2478024"/>
            <a:ext cx="25400" cy="82296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7" name="Shape 38"/>
          <p:cNvSpPr/>
          <p:nvPr/>
        </p:nvSpPr>
        <p:spPr>
          <a:xfrm>
            <a:off x="5703214" y="2615184"/>
            <a:ext cx="25400" cy="82296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8" name="Shape 39"/>
          <p:cNvSpPr/>
          <p:nvPr/>
        </p:nvSpPr>
        <p:spPr>
          <a:xfrm>
            <a:off x="5703214" y="2752344"/>
            <a:ext cx="25400" cy="82296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9" name="Shape 40"/>
          <p:cNvSpPr/>
          <p:nvPr/>
        </p:nvSpPr>
        <p:spPr>
          <a:xfrm>
            <a:off x="5703214" y="2889504"/>
            <a:ext cx="25400" cy="82296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0" name="Shape 41"/>
          <p:cNvSpPr/>
          <p:nvPr/>
        </p:nvSpPr>
        <p:spPr>
          <a:xfrm>
            <a:off x="5703214" y="3026664"/>
            <a:ext cx="25400" cy="82296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1" name="Shape 42"/>
          <p:cNvSpPr/>
          <p:nvPr/>
        </p:nvSpPr>
        <p:spPr>
          <a:xfrm>
            <a:off x="5703214" y="3163824"/>
            <a:ext cx="25400" cy="82296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2" name="Shape 43"/>
          <p:cNvSpPr/>
          <p:nvPr/>
        </p:nvSpPr>
        <p:spPr>
          <a:xfrm>
            <a:off x="5703214" y="3300984"/>
            <a:ext cx="25400" cy="82296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3" name="Shape 44"/>
          <p:cNvSpPr/>
          <p:nvPr/>
        </p:nvSpPr>
        <p:spPr>
          <a:xfrm>
            <a:off x="5703214" y="3438144"/>
            <a:ext cx="25400" cy="82296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4" name="Shape 45"/>
          <p:cNvSpPr/>
          <p:nvPr/>
        </p:nvSpPr>
        <p:spPr>
          <a:xfrm>
            <a:off x="5703214" y="3575304"/>
            <a:ext cx="25400" cy="82296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5" name="Shape 46"/>
          <p:cNvSpPr/>
          <p:nvPr/>
        </p:nvSpPr>
        <p:spPr>
          <a:xfrm>
            <a:off x="5703214" y="3712464"/>
            <a:ext cx="25400" cy="82296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6" name="Shape 47"/>
          <p:cNvSpPr/>
          <p:nvPr/>
        </p:nvSpPr>
        <p:spPr>
          <a:xfrm>
            <a:off x="5703214" y="3849624"/>
            <a:ext cx="25400" cy="82296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7" name="Shape 48"/>
          <p:cNvSpPr/>
          <p:nvPr/>
        </p:nvSpPr>
        <p:spPr>
          <a:xfrm>
            <a:off x="5703214" y="3986784"/>
            <a:ext cx="25400" cy="82296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8" name="Shape 49"/>
          <p:cNvSpPr/>
          <p:nvPr/>
        </p:nvSpPr>
        <p:spPr>
          <a:xfrm>
            <a:off x="5703214" y="4123944"/>
            <a:ext cx="25400" cy="82296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9" name="Shape 50"/>
          <p:cNvSpPr/>
          <p:nvPr/>
        </p:nvSpPr>
        <p:spPr>
          <a:xfrm>
            <a:off x="5703214" y="4261104"/>
            <a:ext cx="25400" cy="82296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0" name="Shape 51"/>
          <p:cNvSpPr/>
          <p:nvPr/>
        </p:nvSpPr>
        <p:spPr>
          <a:xfrm>
            <a:off x="5703214" y="4398264"/>
            <a:ext cx="25400" cy="82296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1" name="Shape 52"/>
          <p:cNvSpPr/>
          <p:nvPr/>
        </p:nvSpPr>
        <p:spPr>
          <a:xfrm>
            <a:off x="5703214" y="4535424"/>
            <a:ext cx="25400" cy="82296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2" name="Text 53"/>
          <p:cNvSpPr/>
          <p:nvPr/>
        </p:nvSpPr>
        <p:spPr>
          <a:xfrm>
            <a:off x="4527194" y="47914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[判断期限]</a:t>
            </a:r>
            <a:endParaRPr lang="en-US" sz="1100" dirty="0"/>
          </a:p>
        </p:txBody>
      </p:sp>
      <p:sp>
        <p:nvSpPr>
          <p:cNvPr id="603" name="Shape 54"/>
          <p:cNvSpPr/>
          <p:nvPr/>
        </p:nvSpPr>
        <p:spPr>
          <a:xfrm>
            <a:off x="566928" y="5358384"/>
            <a:ext cx="11057839" cy="475488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4" name="Text 55"/>
          <p:cNvSpPr/>
          <p:nvPr/>
        </p:nvSpPr>
        <p:spPr>
          <a:xfrm>
            <a:off x="768096" y="5413248"/>
            <a:ext cx="10655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[結論。だから次に何を決めるかを書く]</a:t>
            </a:r>
            <a:endParaRPr lang="en-US" sz="1400" dirty="0"/>
          </a:p>
        </p:txBody>
      </p:sp>
      <p:sp>
        <p:nvSpPr>
          <p:cNvPr id="605" name="Text 56"/>
          <p:cNvSpPr/>
          <p:nvPr/>
        </p:nvSpPr>
        <p:spPr>
          <a:xfrm>
            <a:off x="566928" y="607161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[出所／対象期間／母数 n=／基準日]。無い場合は ※要確認 と明記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6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Shape 0"/>
          <p:cNvSpPr/>
          <p:nvPr/>
        </p:nvSpPr>
        <p:spPr>
          <a:xfrm>
            <a:off x="566928" y="457200"/>
            <a:ext cx="64008" cy="384048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8" name="Text 1"/>
          <p:cNvSpPr/>
          <p:nvPr/>
        </p:nvSpPr>
        <p:spPr>
          <a:xfrm>
            <a:off x="768096" y="384048"/>
            <a:ext cx="108566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[タイトル]</a:t>
            </a:r>
            <a:endParaRPr lang="en-US" sz="3000" dirty="0"/>
          </a:p>
        </p:txBody>
      </p:sp>
      <p:sp>
        <p:nvSpPr>
          <p:cNvPr id="609" name="Text 2"/>
          <p:cNvSpPr/>
          <p:nvPr/>
        </p:nvSpPr>
        <p:spPr>
          <a:xfrm>
            <a:off x="768096" y="987552"/>
            <a:ext cx="108566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[判断条件と分岐を上から下へ示す]</a:t>
            </a:r>
            <a:endParaRPr lang="en-US" sz="1300" dirty="0"/>
          </a:p>
        </p:txBody>
      </p:sp>
      <p:sp>
        <p:nvSpPr>
          <p:cNvPr id="610" name="Text 3"/>
          <p:cNvSpPr/>
          <p:nvPr/>
        </p:nvSpPr>
        <p:spPr>
          <a:xfrm>
            <a:off x="566928" y="63459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decision-tree  ｜  flow  ｜  判断分岐</a:t>
            </a:r>
            <a:endParaRPr lang="en-US" sz="900" dirty="0"/>
          </a:p>
        </p:txBody>
      </p:sp>
      <p:sp>
        <p:nvSpPr>
          <p:cNvPr id="611" name="Text 4"/>
          <p:cNvSpPr/>
          <p:nvPr/>
        </p:nvSpPr>
        <p:spPr>
          <a:xfrm>
            <a:off x="10524744" y="6345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900" dirty="0"/>
          </a:p>
        </p:txBody>
      </p:sp>
      <p:sp>
        <p:nvSpPr>
          <p:cNvPr id="612" name="Shape 5"/>
          <p:cNvSpPr/>
          <p:nvPr/>
        </p:nvSpPr>
        <p:spPr>
          <a:xfrm>
            <a:off x="4773168" y="1481328"/>
            <a:ext cx="2651760" cy="566928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3" name="Text 6"/>
          <p:cNvSpPr/>
          <p:nvPr/>
        </p:nvSpPr>
        <p:spPr>
          <a:xfrm>
            <a:off x="4910328" y="148132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7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[判断条件1]</a:t>
            </a:r>
            <a:endParaRPr lang="en-US" sz="1200" dirty="0"/>
          </a:p>
        </p:txBody>
      </p:sp>
      <p:sp>
        <p:nvSpPr>
          <p:cNvPr id="614" name="Text 7"/>
          <p:cNvSpPr/>
          <p:nvPr/>
        </p:nvSpPr>
        <p:spPr>
          <a:xfrm>
            <a:off x="4773168" y="21031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[Yes / No の判定基準]</a:t>
            </a:r>
            <a:endParaRPr lang="en-US" sz="1000" dirty="0"/>
          </a:p>
        </p:txBody>
      </p:sp>
      <p:sp>
        <p:nvSpPr>
          <p:cNvPr id="615" name="Shape 8"/>
          <p:cNvSpPr/>
          <p:nvPr/>
        </p:nvSpPr>
        <p:spPr>
          <a:xfrm>
            <a:off x="1847088" y="2532888"/>
            <a:ext cx="2651760" cy="512064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6" name="Text 9"/>
          <p:cNvSpPr/>
          <p:nvPr/>
        </p:nvSpPr>
        <p:spPr>
          <a:xfrm>
            <a:off x="1984248" y="253288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[条件2A]</a:t>
            </a:r>
            <a:endParaRPr lang="en-US" sz="1200" dirty="0"/>
          </a:p>
        </p:txBody>
      </p:sp>
      <p:sp>
        <p:nvSpPr>
          <p:cNvPr id="617" name="Shape 10"/>
          <p:cNvSpPr/>
          <p:nvPr/>
        </p:nvSpPr>
        <p:spPr>
          <a:xfrm>
            <a:off x="7699248" y="2532888"/>
            <a:ext cx="2651760" cy="512064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8" name="Text 11"/>
          <p:cNvSpPr/>
          <p:nvPr/>
        </p:nvSpPr>
        <p:spPr>
          <a:xfrm>
            <a:off x="7836408" y="253288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[条件2B]</a:t>
            </a:r>
            <a:endParaRPr lang="en-US" sz="1200" dirty="0"/>
          </a:p>
        </p:txBody>
      </p:sp>
      <p:sp>
        <p:nvSpPr>
          <p:cNvPr id="619" name="Shape 12"/>
          <p:cNvSpPr/>
          <p:nvPr/>
        </p:nvSpPr>
        <p:spPr>
          <a:xfrm>
            <a:off x="3172968" y="2435098"/>
            <a:ext cx="5852160" cy="12700"/>
          </a:xfrm>
          <a:prstGeom prst="rect">
            <a:avLst/>
          </a:prstGeom>
          <a:solidFill>
            <a:srgbClr val="8A9A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0" name="Shape 13"/>
          <p:cNvSpPr/>
          <p:nvPr/>
        </p:nvSpPr>
        <p:spPr>
          <a:xfrm>
            <a:off x="6092698" y="2340864"/>
            <a:ext cx="12700" cy="100584"/>
          </a:xfrm>
          <a:prstGeom prst="rect">
            <a:avLst/>
          </a:prstGeom>
          <a:solidFill>
            <a:srgbClr val="8A9A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1" name="Shape 14"/>
          <p:cNvSpPr/>
          <p:nvPr/>
        </p:nvSpPr>
        <p:spPr>
          <a:xfrm>
            <a:off x="3166618" y="2441448"/>
            <a:ext cx="12700" cy="91440"/>
          </a:xfrm>
          <a:prstGeom prst="rect">
            <a:avLst/>
          </a:prstGeom>
          <a:solidFill>
            <a:srgbClr val="8A9A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2" name="Shape 15"/>
          <p:cNvSpPr/>
          <p:nvPr/>
        </p:nvSpPr>
        <p:spPr>
          <a:xfrm>
            <a:off x="9018778" y="2441448"/>
            <a:ext cx="12700" cy="91440"/>
          </a:xfrm>
          <a:prstGeom prst="rect">
            <a:avLst/>
          </a:prstGeom>
          <a:solidFill>
            <a:srgbClr val="8A9A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3" name="Shape 16"/>
          <p:cNvSpPr/>
          <p:nvPr/>
        </p:nvSpPr>
        <p:spPr>
          <a:xfrm>
            <a:off x="566928" y="3447288"/>
            <a:ext cx="2514600" cy="566928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4" name="Text 17"/>
          <p:cNvSpPr/>
          <p:nvPr/>
        </p:nvSpPr>
        <p:spPr>
          <a:xfrm>
            <a:off x="704088" y="344728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[結論A]</a:t>
            </a:r>
            <a:endParaRPr lang="en-US" sz="1200" dirty="0"/>
          </a:p>
        </p:txBody>
      </p:sp>
      <p:sp>
        <p:nvSpPr>
          <p:cNvPr id="625" name="Text 18"/>
          <p:cNvSpPr/>
          <p:nvPr/>
        </p:nvSpPr>
        <p:spPr>
          <a:xfrm>
            <a:off x="704088" y="406908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[次の行動]</a:t>
            </a:r>
            <a:endParaRPr lang="en-US" sz="1000" dirty="0"/>
          </a:p>
        </p:txBody>
      </p:sp>
      <p:sp>
        <p:nvSpPr>
          <p:cNvPr id="626" name="Shape 19"/>
          <p:cNvSpPr/>
          <p:nvPr/>
        </p:nvSpPr>
        <p:spPr>
          <a:xfrm>
            <a:off x="3355848" y="3447288"/>
            <a:ext cx="2514600" cy="566928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7" name="Text 20"/>
          <p:cNvSpPr/>
          <p:nvPr/>
        </p:nvSpPr>
        <p:spPr>
          <a:xfrm>
            <a:off x="3493008" y="344728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[結論B]</a:t>
            </a:r>
            <a:endParaRPr lang="en-US" sz="1200" dirty="0"/>
          </a:p>
        </p:txBody>
      </p:sp>
      <p:sp>
        <p:nvSpPr>
          <p:cNvPr id="628" name="Text 21"/>
          <p:cNvSpPr/>
          <p:nvPr/>
        </p:nvSpPr>
        <p:spPr>
          <a:xfrm>
            <a:off x="3493008" y="406908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[次の行動]</a:t>
            </a:r>
            <a:endParaRPr lang="en-US" sz="1000" dirty="0"/>
          </a:p>
        </p:txBody>
      </p:sp>
      <p:sp>
        <p:nvSpPr>
          <p:cNvPr id="629" name="Shape 22"/>
          <p:cNvSpPr/>
          <p:nvPr/>
        </p:nvSpPr>
        <p:spPr>
          <a:xfrm>
            <a:off x="6144768" y="3447288"/>
            <a:ext cx="2514600" cy="566928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0" name="Text 23"/>
          <p:cNvSpPr/>
          <p:nvPr/>
        </p:nvSpPr>
        <p:spPr>
          <a:xfrm>
            <a:off x="6281928" y="344728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[結論C]</a:t>
            </a:r>
            <a:endParaRPr lang="en-US" sz="1200" dirty="0"/>
          </a:p>
        </p:txBody>
      </p:sp>
      <p:sp>
        <p:nvSpPr>
          <p:cNvPr id="631" name="Text 24"/>
          <p:cNvSpPr/>
          <p:nvPr/>
        </p:nvSpPr>
        <p:spPr>
          <a:xfrm>
            <a:off x="6281928" y="406908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[次の行動]</a:t>
            </a:r>
            <a:endParaRPr lang="en-US" sz="1000" dirty="0"/>
          </a:p>
        </p:txBody>
      </p:sp>
      <p:sp>
        <p:nvSpPr>
          <p:cNvPr id="632" name="Shape 25"/>
          <p:cNvSpPr/>
          <p:nvPr/>
        </p:nvSpPr>
        <p:spPr>
          <a:xfrm>
            <a:off x="8933688" y="3447288"/>
            <a:ext cx="2514600" cy="566928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3" name="Text 26"/>
          <p:cNvSpPr/>
          <p:nvPr/>
        </p:nvSpPr>
        <p:spPr>
          <a:xfrm>
            <a:off x="9070848" y="344728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[結論D]</a:t>
            </a:r>
            <a:endParaRPr lang="en-US" sz="1200" dirty="0"/>
          </a:p>
        </p:txBody>
      </p:sp>
      <p:sp>
        <p:nvSpPr>
          <p:cNvPr id="634" name="Text 27"/>
          <p:cNvSpPr/>
          <p:nvPr/>
        </p:nvSpPr>
        <p:spPr>
          <a:xfrm>
            <a:off x="9070848" y="406908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[次の行動]</a:t>
            </a:r>
            <a:endParaRPr lang="en-US" sz="1000" dirty="0"/>
          </a:p>
        </p:txBody>
      </p:sp>
      <p:sp>
        <p:nvSpPr>
          <p:cNvPr id="635" name="Shape 28"/>
          <p:cNvSpPr/>
          <p:nvPr/>
        </p:nvSpPr>
        <p:spPr>
          <a:xfrm>
            <a:off x="566928" y="4544568"/>
            <a:ext cx="11057839" cy="457200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6" name="Text 29"/>
          <p:cNvSpPr/>
          <p:nvPr/>
        </p:nvSpPr>
        <p:spPr>
          <a:xfrm>
            <a:off x="795528" y="4544568"/>
            <a:ext cx="106006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[全経路に共通する判断原則]</a:t>
            </a:r>
            <a:endParaRPr lang="en-US" sz="1100" dirty="0"/>
          </a:p>
        </p:txBody>
      </p:sp>
      <p:sp>
        <p:nvSpPr>
          <p:cNvPr id="637" name="Shape 30"/>
          <p:cNvSpPr/>
          <p:nvPr/>
        </p:nvSpPr>
        <p:spPr>
          <a:xfrm>
            <a:off x="566928" y="5358384"/>
            <a:ext cx="11057839" cy="475488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8" name="Text 31"/>
          <p:cNvSpPr/>
          <p:nvPr/>
        </p:nvSpPr>
        <p:spPr>
          <a:xfrm>
            <a:off x="768096" y="5413248"/>
            <a:ext cx="10655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[結論。だから次に何を決めるかを書く]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6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Shape 0"/>
          <p:cNvSpPr/>
          <p:nvPr/>
        </p:nvSpPr>
        <p:spPr>
          <a:xfrm>
            <a:off x="566928" y="457200"/>
            <a:ext cx="64008" cy="384048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1" name="Text 1"/>
          <p:cNvSpPr/>
          <p:nvPr/>
        </p:nvSpPr>
        <p:spPr>
          <a:xfrm>
            <a:off x="768096" y="384048"/>
            <a:ext cx="108566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[タイトル]</a:t>
            </a:r>
            <a:endParaRPr lang="en-US" sz="3000" dirty="0"/>
          </a:p>
        </p:txBody>
      </p:sp>
      <p:sp>
        <p:nvSpPr>
          <p:cNvPr id="642" name="Text 2"/>
          <p:cNvSpPr/>
          <p:nvPr/>
        </p:nvSpPr>
        <p:spPr>
          <a:xfrm>
            <a:off x="768096" y="987552"/>
            <a:ext cx="108566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[工程ごとの実行・説明・助言・報告先を明確にする]</a:t>
            </a:r>
            <a:endParaRPr lang="en-US" sz="1300" dirty="0"/>
          </a:p>
        </p:txBody>
      </p:sp>
      <p:sp>
        <p:nvSpPr>
          <p:cNvPr id="643" name="Text 3"/>
          <p:cNvSpPr/>
          <p:nvPr/>
        </p:nvSpPr>
        <p:spPr>
          <a:xfrm>
            <a:off x="566928" y="63459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raci  ｜  plan  ｜  責任分担</a:t>
            </a:r>
            <a:endParaRPr lang="en-US" sz="900" dirty="0"/>
          </a:p>
        </p:txBody>
      </p:sp>
      <p:sp>
        <p:nvSpPr>
          <p:cNvPr id="644" name="Text 4"/>
          <p:cNvSpPr/>
          <p:nvPr/>
        </p:nvSpPr>
        <p:spPr>
          <a:xfrm>
            <a:off x="10524744" y="6345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900" dirty="0"/>
          </a:p>
        </p:txBody>
      </p:sp>
      <p:graphicFrame>
        <p:nvGraphicFramePr>
          <p:cNvPr id="6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3739896"/>
                <a:gridCol w="18288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工程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[主体A]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[主体B]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[AI]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[統制・承認]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[工程名]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07A3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[R/A]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[C]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[I]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[承認]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[工程名]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07A3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[R/A]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[C]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[I]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[承認]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[工程名]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07A3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[R/A]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[C]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[I]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[承認]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[工程名]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07A3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[R/A]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[C]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[I]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[承認]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[工程名]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07A3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[R/A]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[C]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[I]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[承認]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46" name="Text 5"/>
          <p:cNvSpPr/>
          <p:nvPr/>
        </p:nvSpPr>
        <p:spPr>
          <a:xfrm>
            <a:off x="566928" y="454456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[最終責任者と承認条件を一文で]</a:t>
            </a:r>
            <a:endParaRPr lang="en-US" sz="1200" dirty="0"/>
          </a:p>
        </p:txBody>
      </p:sp>
      <p:sp>
        <p:nvSpPr>
          <p:cNvPr id="647" name="Shape 6"/>
          <p:cNvSpPr/>
          <p:nvPr/>
        </p:nvSpPr>
        <p:spPr>
          <a:xfrm>
            <a:off x="566928" y="5358384"/>
            <a:ext cx="11057839" cy="475488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8" name="Text 7"/>
          <p:cNvSpPr/>
          <p:nvPr/>
        </p:nvSpPr>
        <p:spPr>
          <a:xfrm>
            <a:off x="768096" y="5413248"/>
            <a:ext cx="10655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[結論。だから次に何を決めるかを書く]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6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Shape 0"/>
          <p:cNvSpPr/>
          <p:nvPr/>
        </p:nvSpPr>
        <p:spPr>
          <a:xfrm>
            <a:off x="566928" y="457200"/>
            <a:ext cx="64008" cy="384048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1" name="Text 1"/>
          <p:cNvSpPr/>
          <p:nvPr/>
        </p:nvSpPr>
        <p:spPr>
          <a:xfrm>
            <a:off x="768096" y="384048"/>
            <a:ext cx="108566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[タイトル]</a:t>
            </a:r>
            <a:endParaRPr lang="en-US" sz="3000" dirty="0"/>
          </a:p>
        </p:txBody>
      </p:sp>
      <p:sp>
        <p:nvSpPr>
          <p:cNvPr id="652" name="Text 2"/>
          <p:cNvSpPr/>
          <p:nvPr/>
        </p:nvSpPr>
        <p:spPr>
          <a:xfrm>
            <a:off x="768096" y="987552"/>
            <a:ext cx="108566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[目的・対象・成功条件を固定する]</a:t>
            </a:r>
            <a:endParaRPr lang="en-US" sz="1300" dirty="0"/>
          </a:p>
        </p:txBody>
      </p:sp>
      <p:sp>
        <p:nvSpPr>
          <p:cNvPr id="653" name="Text 3"/>
          <p:cNvSpPr/>
          <p:nvPr/>
        </p:nvSpPr>
        <p:spPr>
          <a:xfrm>
            <a:off x="566928" y="63459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objective-scope  ｜  plan  ｜  目的と対象範囲</a:t>
            </a:r>
            <a:endParaRPr lang="en-US" sz="900" dirty="0"/>
          </a:p>
        </p:txBody>
      </p:sp>
      <p:sp>
        <p:nvSpPr>
          <p:cNvPr id="654" name="Text 4"/>
          <p:cNvSpPr/>
          <p:nvPr/>
        </p:nvSpPr>
        <p:spPr>
          <a:xfrm>
            <a:off x="10524744" y="6345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</a:t>
            </a:r>
            <a:endParaRPr lang="en-US" sz="900" dirty="0"/>
          </a:p>
        </p:txBody>
      </p:sp>
      <p:sp>
        <p:nvSpPr>
          <p:cNvPr id="655" name="Shape 5"/>
          <p:cNvSpPr/>
          <p:nvPr/>
        </p:nvSpPr>
        <p:spPr>
          <a:xfrm>
            <a:off x="566928" y="1481328"/>
            <a:ext cx="11057839" cy="566928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6" name="Text 6"/>
          <p:cNvSpPr/>
          <p:nvPr/>
        </p:nvSpPr>
        <p:spPr>
          <a:xfrm>
            <a:off x="841248" y="148132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[達成したい目的を一文で]</a:t>
            </a:r>
            <a:endParaRPr lang="en-US" sz="1400" dirty="0"/>
          </a:p>
        </p:txBody>
      </p:sp>
      <p:sp>
        <p:nvSpPr>
          <p:cNvPr id="657" name="Shape 7"/>
          <p:cNvSpPr/>
          <p:nvPr/>
        </p:nvSpPr>
        <p:spPr>
          <a:xfrm>
            <a:off x="566928" y="2304288"/>
            <a:ext cx="5277460" cy="192024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8" name="Text 8"/>
          <p:cNvSpPr/>
          <p:nvPr/>
        </p:nvSpPr>
        <p:spPr>
          <a:xfrm>
            <a:off x="859536" y="2487168"/>
            <a:ext cx="46922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</a:t>
            </a:r>
            <a:endParaRPr lang="en-US" sz="1400" dirty="0"/>
          </a:p>
        </p:txBody>
      </p:sp>
      <p:sp>
        <p:nvSpPr>
          <p:cNvPr id="659" name="Text 9"/>
          <p:cNvSpPr/>
          <p:nvPr/>
        </p:nvSpPr>
        <p:spPr>
          <a:xfrm>
            <a:off x="859536" y="2926080"/>
            <a:ext cx="46922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[項目1]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[項目2]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[項目3]</a:t>
            </a:r>
            <a:endParaRPr lang="en-US" sz="1200" dirty="0"/>
          </a:p>
        </p:txBody>
      </p:sp>
      <p:sp>
        <p:nvSpPr>
          <p:cNvPr id="660" name="Shape 10"/>
          <p:cNvSpPr/>
          <p:nvPr/>
        </p:nvSpPr>
        <p:spPr>
          <a:xfrm>
            <a:off x="6347308" y="2304288"/>
            <a:ext cx="5277460" cy="1920240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1" name="Text 11"/>
          <p:cNvSpPr/>
          <p:nvPr/>
        </p:nvSpPr>
        <p:spPr>
          <a:xfrm>
            <a:off x="6639916" y="2487168"/>
            <a:ext cx="46922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対象外</a:t>
            </a:r>
            <a:endParaRPr lang="en-US" sz="1400" dirty="0"/>
          </a:p>
        </p:txBody>
      </p:sp>
      <p:sp>
        <p:nvSpPr>
          <p:cNvPr id="662" name="Text 12"/>
          <p:cNvSpPr/>
          <p:nvPr/>
        </p:nvSpPr>
        <p:spPr>
          <a:xfrm>
            <a:off x="6639916" y="2926080"/>
            <a:ext cx="46922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[項目1]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[項目2]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[項目3]</a:t>
            </a:r>
            <a:endParaRPr lang="en-US" sz="1200" dirty="0"/>
          </a:p>
        </p:txBody>
      </p:sp>
      <p:sp>
        <p:nvSpPr>
          <p:cNvPr id="663" name="Shape 13"/>
          <p:cNvSpPr/>
          <p:nvPr/>
        </p:nvSpPr>
        <p:spPr>
          <a:xfrm>
            <a:off x="566928" y="4453128"/>
            <a:ext cx="11057839" cy="50292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4" name="Text 14"/>
          <p:cNvSpPr/>
          <p:nvPr/>
        </p:nvSpPr>
        <p:spPr>
          <a:xfrm>
            <a:off x="795528" y="4453128"/>
            <a:ext cx="106006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[成功条件・完了条件を測定できる形で]</a:t>
            </a:r>
            <a:endParaRPr lang="en-US" sz="1100" dirty="0"/>
          </a:p>
        </p:txBody>
      </p:sp>
      <p:sp>
        <p:nvSpPr>
          <p:cNvPr id="665" name="Shape 15"/>
          <p:cNvSpPr/>
          <p:nvPr/>
        </p:nvSpPr>
        <p:spPr>
          <a:xfrm>
            <a:off x="566928" y="5358384"/>
            <a:ext cx="11057839" cy="475488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6" name="Text 16"/>
          <p:cNvSpPr/>
          <p:nvPr/>
        </p:nvSpPr>
        <p:spPr>
          <a:xfrm>
            <a:off x="768096" y="5413248"/>
            <a:ext cx="10655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[結論。だから次に何を決めるかを書く]</a:t>
            </a:r>
            <a:endParaRPr lang="en-US" sz="1400" dirty="0"/>
          </a:p>
        </p:txBody>
      </p:sp>
      <p:sp>
        <p:nvSpPr>
          <p:cNvPr id="667" name="Text 17"/>
          <p:cNvSpPr/>
          <p:nvPr/>
        </p:nvSpPr>
        <p:spPr>
          <a:xfrm>
            <a:off x="566928" y="607161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[出所／対象期間／母数 n=／基準日]。無い場合は ※要確認 と明記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6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Shape 0"/>
          <p:cNvSpPr/>
          <p:nvPr/>
        </p:nvSpPr>
        <p:spPr>
          <a:xfrm>
            <a:off x="566928" y="457200"/>
            <a:ext cx="64008" cy="384048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0" name="Text 1"/>
          <p:cNvSpPr/>
          <p:nvPr/>
        </p:nvSpPr>
        <p:spPr>
          <a:xfrm>
            <a:off x="768096" y="384048"/>
            <a:ext cx="108566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[タイトル]</a:t>
            </a:r>
            <a:endParaRPr lang="en-US" sz="3000" dirty="0"/>
          </a:p>
        </p:txBody>
      </p:sp>
      <p:sp>
        <p:nvSpPr>
          <p:cNvPr id="671" name="Text 2"/>
          <p:cNvSpPr/>
          <p:nvPr/>
        </p:nvSpPr>
        <p:spPr>
          <a:xfrm>
            <a:off x="768096" y="987552"/>
            <a:ext cx="108566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[対象範囲と外部との境界を示す]</a:t>
            </a:r>
            <a:endParaRPr lang="en-US" sz="1300" dirty="0"/>
          </a:p>
        </p:txBody>
      </p:sp>
      <p:sp>
        <p:nvSpPr>
          <p:cNvPr id="672" name="Text 3"/>
          <p:cNvSpPr/>
          <p:nvPr/>
        </p:nvSpPr>
        <p:spPr>
          <a:xfrm>
            <a:off x="566928" y="63459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architecture  ｜  architecture  ｜  構成図</a:t>
            </a:r>
            <a:endParaRPr lang="en-US" sz="900" dirty="0"/>
          </a:p>
        </p:txBody>
      </p:sp>
      <p:sp>
        <p:nvSpPr>
          <p:cNvPr id="673" name="Text 4"/>
          <p:cNvSpPr/>
          <p:nvPr/>
        </p:nvSpPr>
        <p:spPr>
          <a:xfrm>
            <a:off x="10524744" y="6345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</a:t>
            </a:r>
            <a:endParaRPr lang="en-US" sz="900" dirty="0"/>
          </a:p>
        </p:txBody>
      </p:sp>
      <p:sp>
        <p:nvSpPr>
          <p:cNvPr id="674" name="Text 5"/>
          <p:cNvSpPr/>
          <p:nvPr/>
        </p:nvSpPr>
        <p:spPr>
          <a:xfrm>
            <a:off x="566928" y="14630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入力元</a:t>
            </a:r>
            <a:endParaRPr lang="en-US" sz="1000" dirty="0"/>
          </a:p>
        </p:txBody>
      </p:sp>
      <p:sp>
        <p:nvSpPr>
          <p:cNvPr id="675" name="Text 6"/>
          <p:cNvSpPr/>
          <p:nvPr/>
        </p:nvSpPr>
        <p:spPr>
          <a:xfrm>
            <a:off x="9162288" y="14630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出力先</a:t>
            </a:r>
            <a:endParaRPr lang="en-US" sz="1000" dirty="0"/>
          </a:p>
        </p:txBody>
      </p:sp>
      <p:sp>
        <p:nvSpPr>
          <p:cNvPr id="676" name="Shape 7"/>
          <p:cNvSpPr/>
          <p:nvPr/>
        </p:nvSpPr>
        <p:spPr>
          <a:xfrm>
            <a:off x="566928" y="1755648"/>
            <a:ext cx="2468880" cy="86868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7" name="Text 8"/>
          <p:cNvSpPr/>
          <p:nvPr/>
        </p:nvSpPr>
        <p:spPr>
          <a:xfrm>
            <a:off x="749808" y="175564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[外部要素1]</a:t>
            </a:r>
            <a:endParaRPr lang="en-US" sz="1300" dirty="0"/>
          </a:p>
        </p:txBody>
      </p:sp>
      <p:sp>
        <p:nvSpPr>
          <p:cNvPr id="678" name="Shape 9"/>
          <p:cNvSpPr/>
          <p:nvPr/>
        </p:nvSpPr>
        <p:spPr>
          <a:xfrm>
            <a:off x="566928" y="2990088"/>
            <a:ext cx="2468880" cy="86868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9" name="Text 10"/>
          <p:cNvSpPr/>
          <p:nvPr/>
        </p:nvSpPr>
        <p:spPr>
          <a:xfrm>
            <a:off x="749808" y="299008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[外部要素2]</a:t>
            </a:r>
            <a:endParaRPr lang="en-US" sz="1300" dirty="0"/>
          </a:p>
        </p:txBody>
      </p:sp>
      <p:sp>
        <p:nvSpPr>
          <p:cNvPr id="680" name="Shape 11"/>
          <p:cNvSpPr/>
          <p:nvPr/>
        </p:nvSpPr>
        <p:spPr>
          <a:xfrm>
            <a:off x="566928" y="4224528"/>
            <a:ext cx="2468880" cy="86868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1" name="Text 12"/>
          <p:cNvSpPr/>
          <p:nvPr/>
        </p:nvSpPr>
        <p:spPr>
          <a:xfrm>
            <a:off x="749808" y="422452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[外部要素3]</a:t>
            </a:r>
            <a:endParaRPr lang="en-US" sz="1300" dirty="0"/>
          </a:p>
        </p:txBody>
      </p:sp>
      <p:sp>
        <p:nvSpPr>
          <p:cNvPr id="682" name="Shape 13"/>
          <p:cNvSpPr/>
          <p:nvPr/>
        </p:nvSpPr>
        <p:spPr>
          <a:xfrm>
            <a:off x="9162288" y="1755648"/>
            <a:ext cx="2468880" cy="86868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3" name="Text 14"/>
          <p:cNvSpPr/>
          <p:nvPr/>
        </p:nvSpPr>
        <p:spPr>
          <a:xfrm>
            <a:off x="9345168" y="175564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[外部要素4]</a:t>
            </a:r>
            <a:endParaRPr lang="en-US" sz="1300" dirty="0"/>
          </a:p>
        </p:txBody>
      </p:sp>
      <p:sp>
        <p:nvSpPr>
          <p:cNvPr id="684" name="Shape 15"/>
          <p:cNvSpPr/>
          <p:nvPr/>
        </p:nvSpPr>
        <p:spPr>
          <a:xfrm>
            <a:off x="9162288" y="2990088"/>
            <a:ext cx="2468880" cy="86868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5" name="Text 16"/>
          <p:cNvSpPr/>
          <p:nvPr/>
        </p:nvSpPr>
        <p:spPr>
          <a:xfrm>
            <a:off x="9345168" y="299008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[外部要素5]</a:t>
            </a:r>
            <a:endParaRPr lang="en-US" sz="1300" dirty="0"/>
          </a:p>
        </p:txBody>
      </p:sp>
      <p:sp>
        <p:nvSpPr>
          <p:cNvPr id="686" name="Shape 17"/>
          <p:cNvSpPr/>
          <p:nvPr/>
        </p:nvSpPr>
        <p:spPr>
          <a:xfrm>
            <a:off x="9162288" y="4224528"/>
            <a:ext cx="2468880" cy="86868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7" name="Text 18"/>
          <p:cNvSpPr/>
          <p:nvPr/>
        </p:nvSpPr>
        <p:spPr>
          <a:xfrm>
            <a:off x="9345168" y="422452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[外部要素6]</a:t>
            </a:r>
            <a:endParaRPr lang="en-US" sz="1300" dirty="0"/>
          </a:p>
        </p:txBody>
      </p:sp>
      <p:sp>
        <p:nvSpPr>
          <p:cNvPr id="688" name="Shape 19"/>
          <p:cNvSpPr/>
          <p:nvPr/>
        </p:nvSpPr>
        <p:spPr>
          <a:xfrm>
            <a:off x="3767328" y="1755648"/>
            <a:ext cx="4663440" cy="3337560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9" name="Text 20"/>
          <p:cNvSpPr/>
          <p:nvPr/>
        </p:nvSpPr>
        <p:spPr>
          <a:xfrm>
            <a:off x="4041648" y="198424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[対象システム／中核機能]</a:t>
            </a:r>
            <a:endParaRPr lang="en-US" sz="1900" dirty="0"/>
          </a:p>
        </p:txBody>
      </p:sp>
      <p:sp>
        <p:nvSpPr>
          <p:cNvPr id="690" name="Shape 21"/>
          <p:cNvSpPr/>
          <p:nvPr/>
        </p:nvSpPr>
        <p:spPr>
          <a:xfrm>
            <a:off x="4041648" y="2532888"/>
            <a:ext cx="4114800" cy="685800"/>
          </a:xfrm>
          <a:prstGeom prst="rect">
            <a:avLst/>
          </a:prstGeom>
          <a:solidFill>
            <a:srgbClr val="1638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1" name="Text 22"/>
          <p:cNvSpPr/>
          <p:nvPr/>
        </p:nvSpPr>
        <p:spPr>
          <a:xfrm>
            <a:off x="4224528" y="2587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[構成要素]</a:t>
            </a:r>
            <a:endParaRPr lang="en-US" sz="1300" dirty="0"/>
          </a:p>
        </p:txBody>
      </p:sp>
      <p:sp>
        <p:nvSpPr>
          <p:cNvPr id="692" name="Text 23"/>
          <p:cNvSpPr/>
          <p:nvPr/>
        </p:nvSpPr>
        <p:spPr>
          <a:xfrm>
            <a:off x="4224528" y="2880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[担う処理]</a:t>
            </a:r>
            <a:endParaRPr lang="en-US" sz="1000" dirty="0"/>
          </a:p>
        </p:txBody>
      </p:sp>
      <p:sp>
        <p:nvSpPr>
          <p:cNvPr id="693" name="Shape 24"/>
          <p:cNvSpPr/>
          <p:nvPr/>
        </p:nvSpPr>
        <p:spPr>
          <a:xfrm>
            <a:off x="4041648" y="3355848"/>
            <a:ext cx="4114800" cy="685800"/>
          </a:xfrm>
          <a:prstGeom prst="rect">
            <a:avLst/>
          </a:prstGeom>
          <a:solidFill>
            <a:srgbClr val="1638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4" name="Text 25"/>
          <p:cNvSpPr/>
          <p:nvPr/>
        </p:nvSpPr>
        <p:spPr>
          <a:xfrm>
            <a:off x="4224528" y="34107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[構成要素]</a:t>
            </a:r>
            <a:endParaRPr lang="en-US" sz="1300" dirty="0"/>
          </a:p>
        </p:txBody>
      </p:sp>
      <p:sp>
        <p:nvSpPr>
          <p:cNvPr id="695" name="Text 26"/>
          <p:cNvSpPr/>
          <p:nvPr/>
        </p:nvSpPr>
        <p:spPr>
          <a:xfrm>
            <a:off x="4224528" y="3703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[担う処理]</a:t>
            </a:r>
            <a:endParaRPr lang="en-US" sz="1000" dirty="0"/>
          </a:p>
        </p:txBody>
      </p:sp>
      <p:sp>
        <p:nvSpPr>
          <p:cNvPr id="696" name="Shape 27"/>
          <p:cNvSpPr/>
          <p:nvPr/>
        </p:nvSpPr>
        <p:spPr>
          <a:xfrm>
            <a:off x="4041648" y="4178808"/>
            <a:ext cx="4114800" cy="685800"/>
          </a:xfrm>
          <a:prstGeom prst="rect">
            <a:avLst/>
          </a:prstGeom>
          <a:solidFill>
            <a:srgbClr val="1638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7" name="Text 28"/>
          <p:cNvSpPr/>
          <p:nvPr/>
        </p:nvSpPr>
        <p:spPr>
          <a:xfrm>
            <a:off x="4224528" y="42336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[構成要素]</a:t>
            </a:r>
            <a:endParaRPr lang="en-US" sz="1300" dirty="0"/>
          </a:p>
        </p:txBody>
      </p:sp>
      <p:sp>
        <p:nvSpPr>
          <p:cNvPr id="698" name="Text 29"/>
          <p:cNvSpPr/>
          <p:nvPr/>
        </p:nvSpPr>
        <p:spPr>
          <a:xfrm>
            <a:off x="4224528" y="4526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[担う処理]</a:t>
            </a:r>
            <a:endParaRPr lang="en-US" sz="1000" dirty="0"/>
          </a:p>
        </p:txBody>
      </p:sp>
      <p:sp>
        <p:nvSpPr>
          <p:cNvPr id="699" name="Text 30"/>
          <p:cNvSpPr/>
          <p:nvPr/>
        </p:nvSpPr>
        <p:spPr>
          <a:xfrm>
            <a:off x="3182112" y="2032000"/>
            <a:ext cx="438912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600" dirty="0"/>
          </a:p>
        </p:txBody>
      </p:sp>
      <p:sp>
        <p:nvSpPr>
          <p:cNvPr id="700" name="Text 31"/>
          <p:cNvSpPr/>
          <p:nvPr/>
        </p:nvSpPr>
        <p:spPr>
          <a:xfrm>
            <a:off x="8577072" y="2032000"/>
            <a:ext cx="438912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▷</a:t>
            </a:r>
            <a:endParaRPr lang="en-US" sz="1600" dirty="0"/>
          </a:p>
        </p:txBody>
      </p:sp>
      <p:sp>
        <p:nvSpPr>
          <p:cNvPr id="701" name="Text 32"/>
          <p:cNvSpPr/>
          <p:nvPr/>
        </p:nvSpPr>
        <p:spPr>
          <a:xfrm>
            <a:off x="3182112" y="3266440"/>
            <a:ext cx="438912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600" dirty="0"/>
          </a:p>
        </p:txBody>
      </p:sp>
      <p:sp>
        <p:nvSpPr>
          <p:cNvPr id="702" name="Text 33"/>
          <p:cNvSpPr/>
          <p:nvPr/>
        </p:nvSpPr>
        <p:spPr>
          <a:xfrm>
            <a:off x="8577072" y="3266440"/>
            <a:ext cx="438912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▷</a:t>
            </a:r>
            <a:endParaRPr lang="en-US" sz="1600" dirty="0"/>
          </a:p>
        </p:txBody>
      </p:sp>
      <p:sp>
        <p:nvSpPr>
          <p:cNvPr id="703" name="Text 34"/>
          <p:cNvSpPr/>
          <p:nvPr/>
        </p:nvSpPr>
        <p:spPr>
          <a:xfrm>
            <a:off x="3182112" y="4500880"/>
            <a:ext cx="438912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1600" dirty="0"/>
          </a:p>
        </p:txBody>
      </p:sp>
      <p:sp>
        <p:nvSpPr>
          <p:cNvPr id="704" name="Text 35"/>
          <p:cNvSpPr/>
          <p:nvPr/>
        </p:nvSpPr>
        <p:spPr>
          <a:xfrm>
            <a:off x="8577072" y="4500880"/>
            <a:ext cx="438912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▷</a:t>
            </a:r>
            <a:endParaRPr lang="en-US" sz="1600" dirty="0"/>
          </a:p>
        </p:txBody>
      </p:sp>
      <p:sp>
        <p:nvSpPr>
          <p:cNvPr id="705" name="Shape 36"/>
          <p:cNvSpPr/>
          <p:nvPr/>
        </p:nvSpPr>
        <p:spPr>
          <a:xfrm>
            <a:off x="566928" y="5358384"/>
            <a:ext cx="11057839" cy="475488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6" name="Text 37"/>
          <p:cNvSpPr/>
          <p:nvPr/>
        </p:nvSpPr>
        <p:spPr>
          <a:xfrm>
            <a:off x="768096" y="5413248"/>
            <a:ext cx="10655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[結論。だから次に何を決めるかを書く]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7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Shape 0"/>
          <p:cNvSpPr/>
          <p:nvPr/>
        </p:nvSpPr>
        <p:spPr>
          <a:xfrm>
            <a:off x="566928" y="457200"/>
            <a:ext cx="64008" cy="384048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9" name="Text 1"/>
          <p:cNvSpPr/>
          <p:nvPr/>
        </p:nvSpPr>
        <p:spPr>
          <a:xfrm>
            <a:off x="768096" y="384048"/>
            <a:ext cx="108566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[タイトル]</a:t>
            </a:r>
            <a:endParaRPr lang="en-US" sz="3000" dirty="0"/>
          </a:p>
        </p:txBody>
      </p:sp>
      <p:sp>
        <p:nvSpPr>
          <p:cNvPr id="710" name="Text 2"/>
          <p:cNvSpPr/>
          <p:nvPr/>
        </p:nvSpPr>
        <p:spPr>
          <a:xfrm>
            <a:off x="768096" y="987552"/>
            <a:ext cx="108566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[重要課題と必要な判断を一覧で示す]</a:t>
            </a:r>
            <a:endParaRPr lang="en-US" sz="1300" dirty="0"/>
          </a:p>
        </p:txBody>
      </p:sp>
      <p:sp>
        <p:nvSpPr>
          <p:cNvPr id="711" name="Text 3"/>
          <p:cNvSpPr/>
          <p:nvPr/>
        </p:nvSpPr>
        <p:spPr>
          <a:xfrm>
            <a:off x="566928" y="63459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issue-action-log  ｜  plan  ｜  課題と依頼</a:t>
            </a:r>
            <a:endParaRPr lang="en-US" sz="900" dirty="0"/>
          </a:p>
        </p:txBody>
      </p:sp>
      <p:sp>
        <p:nvSpPr>
          <p:cNvPr id="712" name="Text 4"/>
          <p:cNvSpPr/>
          <p:nvPr/>
        </p:nvSpPr>
        <p:spPr>
          <a:xfrm>
            <a:off x="10524744" y="6345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28</a:t>
            </a:r>
            <a:endParaRPr lang="en-US" sz="900" dirty="0"/>
          </a:p>
        </p:txBody>
      </p:sp>
      <p:graphicFrame>
        <p:nvGraphicFramePr>
          <p:cNvPr id="7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560320"/>
                <a:gridCol w="2377440"/>
                <a:gridCol w="822960"/>
                <a:gridCol w="822960"/>
                <a:gridCol w="1097280"/>
                <a:gridCol w="2828239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#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課題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影響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重要度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期限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担当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必要な判断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01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[課題]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[影響範囲]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07A3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[M/D]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[担当]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[判断内容]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02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[課題]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[影響範囲]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07A3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[M/D]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[担当]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[判断内容]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[課題]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[影響範囲]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[M/D]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[担当]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[判断内容]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04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[課題]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[影響範囲]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[M/D]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[担当]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[判断内容]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05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[課題]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[影響範囲]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[M/D]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A6B7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[担当]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[判断内容]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14" name="Text 5"/>
          <p:cNvSpPr/>
          <p:nvPr/>
        </p:nvSpPr>
        <p:spPr>
          <a:xfrm>
            <a:off x="566928" y="42702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本日ご判断いただきたいこと</a:t>
            </a:r>
            <a:endParaRPr lang="en-US" sz="1200" dirty="0"/>
          </a:p>
        </p:txBody>
      </p:sp>
      <p:sp>
        <p:nvSpPr>
          <p:cNvPr id="715" name="Text 6"/>
          <p:cNvSpPr/>
          <p:nvPr/>
        </p:nvSpPr>
        <p:spPr>
          <a:xfrm>
            <a:off x="566928" y="46542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[判断事項1]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[判断事項2]</a:t>
            </a:r>
            <a:endParaRPr lang="en-US" sz="1200" dirty="0"/>
          </a:p>
        </p:txBody>
      </p:sp>
      <p:sp>
        <p:nvSpPr>
          <p:cNvPr id="716" name="Text 7"/>
          <p:cNvSpPr/>
          <p:nvPr/>
        </p:nvSpPr>
        <p:spPr>
          <a:xfrm>
            <a:off x="566928" y="607161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[出所／対象期間／母数 n=／基準日]。無い場合は ※要確認 と明記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7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Shape 0"/>
          <p:cNvSpPr/>
          <p:nvPr/>
        </p:nvSpPr>
        <p:spPr>
          <a:xfrm>
            <a:off x="566928" y="457200"/>
            <a:ext cx="64008" cy="384048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9" name="Text 1"/>
          <p:cNvSpPr/>
          <p:nvPr/>
        </p:nvSpPr>
        <p:spPr>
          <a:xfrm>
            <a:off x="768096" y="384048"/>
            <a:ext cx="108566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[タイトル]</a:t>
            </a:r>
            <a:endParaRPr lang="en-US" sz="3000" dirty="0"/>
          </a:p>
        </p:txBody>
      </p:sp>
      <p:sp>
        <p:nvSpPr>
          <p:cNvPr id="720" name="Text 2"/>
          <p:cNvSpPr/>
          <p:nvPr/>
        </p:nvSpPr>
        <p:spPr>
          <a:xfrm>
            <a:off x="768096" y="987552"/>
            <a:ext cx="108566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[結論と、次に誰が何をするかを示す]</a:t>
            </a:r>
            <a:endParaRPr lang="en-US" sz="1300" dirty="0"/>
          </a:p>
        </p:txBody>
      </p:sp>
      <p:sp>
        <p:nvSpPr>
          <p:cNvPr id="721" name="Text 3"/>
          <p:cNvSpPr/>
          <p:nvPr/>
        </p:nvSpPr>
        <p:spPr>
          <a:xfrm>
            <a:off x="566928" y="63459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closing-action  ｜  base  ｜  結論と次の一手</a:t>
            </a:r>
            <a:endParaRPr lang="en-US" sz="900" dirty="0"/>
          </a:p>
        </p:txBody>
      </p:sp>
      <p:sp>
        <p:nvSpPr>
          <p:cNvPr id="722" name="Text 4"/>
          <p:cNvSpPr/>
          <p:nvPr/>
        </p:nvSpPr>
        <p:spPr>
          <a:xfrm>
            <a:off x="10524744" y="6345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29</a:t>
            </a:r>
            <a:endParaRPr lang="en-US" sz="900" dirty="0"/>
          </a:p>
        </p:txBody>
      </p:sp>
      <p:sp>
        <p:nvSpPr>
          <p:cNvPr id="723" name="Shape 5"/>
          <p:cNvSpPr/>
          <p:nvPr/>
        </p:nvSpPr>
        <p:spPr>
          <a:xfrm>
            <a:off x="566928" y="1481328"/>
            <a:ext cx="11057839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4" name="Text 6"/>
          <p:cNvSpPr/>
          <p:nvPr/>
        </p:nvSpPr>
        <p:spPr>
          <a:xfrm>
            <a:off x="886968" y="1481328"/>
            <a:ext cx="104177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[この資料で合意・確認した結論を一文で]</a:t>
            </a:r>
            <a:endParaRPr lang="en-US" sz="1600" dirty="0"/>
          </a:p>
        </p:txBody>
      </p:sp>
      <p:sp>
        <p:nvSpPr>
          <p:cNvPr id="725" name="Shape 7"/>
          <p:cNvSpPr/>
          <p:nvPr/>
        </p:nvSpPr>
        <p:spPr>
          <a:xfrm>
            <a:off x="566928" y="2532888"/>
            <a:ext cx="3381146" cy="1920240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6" name="Text 8"/>
          <p:cNvSpPr/>
          <p:nvPr/>
        </p:nvSpPr>
        <p:spPr>
          <a:xfrm>
            <a:off x="841248" y="2697480"/>
            <a:ext cx="28325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727" name="Text 9"/>
          <p:cNvSpPr/>
          <p:nvPr/>
        </p:nvSpPr>
        <p:spPr>
          <a:xfrm>
            <a:off x="841248" y="2990088"/>
            <a:ext cx="2832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直後に行うこと</a:t>
            </a:r>
            <a:endParaRPr lang="en-US" sz="1500" dirty="0"/>
          </a:p>
        </p:txBody>
      </p:sp>
      <p:sp>
        <p:nvSpPr>
          <p:cNvPr id="728" name="Text 10"/>
          <p:cNvSpPr/>
          <p:nvPr/>
        </p:nvSpPr>
        <p:spPr>
          <a:xfrm>
            <a:off x="841248" y="3401568"/>
            <a:ext cx="2832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[具体的な行動]</a:t>
            </a:r>
            <a:endParaRPr lang="en-US" sz="1200" dirty="0"/>
          </a:p>
        </p:txBody>
      </p:sp>
      <p:sp>
        <p:nvSpPr>
          <p:cNvPr id="729" name="Text 11"/>
          <p:cNvSpPr/>
          <p:nvPr/>
        </p:nvSpPr>
        <p:spPr>
          <a:xfrm>
            <a:off x="841248" y="3767328"/>
            <a:ext cx="2832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[担当] ／ [期限]</a:t>
            </a:r>
            <a:endParaRPr lang="en-US" sz="1100" dirty="0"/>
          </a:p>
        </p:txBody>
      </p:sp>
      <p:sp>
        <p:nvSpPr>
          <p:cNvPr id="730" name="Shape 12"/>
          <p:cNvSpPr/>
          <p:nvPr/>
        </p:nvSpPr>
        <p:spPr>
          <a:xfrm>
            <a:off x="4405274" y="2532888"/>
            <a:ext cx="3381146" cy="192024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1" name="Text 13"/>
          <p:cNvSpPr/>
          <p:nvPr/>
        </p:nvSpPr>
        <p:spPr>
          <a:xfrm>
            <a:off x="4679594" y="2697480"/>
            <a:ext cx="28325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732" name="Text 14"/>
          <p:cNvSpPr/>
          <p:nvPr/>
        </p:nvSpPr>
        <p:spPr>
          <a:xfrm>
            <a:off x="4679594" y="2990088"/>
            <a:ext cx="2832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次に行うこと</a:t>
            </a:r>
            <a:endParaRPr lang="en-US" sz="1500" dirty="0"/>
          </a:p>
        </p:txBody>
      </p:sp>
      <p:sp>
        <p:nvSpPr>
          <p:cNvPr id="733" name="Text 15"/>
          <p:cNvSpPr/>
          <p:nvPr/>
        </p:nvSpPr>
        <p:spPr>
          <a:xfrm>
            <a:off x="4679594" y="3401568"/>
            <a:ext cx="2832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[具体的な行動]</a:t>
            </a:r>
            <a:endParaRPr lang="en-US" sz="1200" dirty="0"/>
          </a:p>
        </p:txBody>
      </p:sp>
      <p:sp>
        <p:nvSpPr>
          <p:cNvPr id="734" name="Text 16"/>
          <p:cNvSpPr/>
          <p:nvPr/>
        </p:nvSpPr>
        <p:spPr>
          <a:xfrm>
            <a:off x="4679594" y="3767328"/>
            <a:ext cx="2832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[担当] ／ [期限]</a:t>
            </a:r>
            <a:endParaRPr lang="en-US" sz="1100" dirty="0"/>
          </a:p>
        </p:txBody>
      </p:sp>
      <p:sp>
        <p:nvSpPr>
          <p:cNvPr id="735" name="Shape 17"/>
          <p:cNvSpPr/>
          <p:nvPr/>
        </p:nvSpPr>
        <p:spPr>
          <a:xfrm>
            <a:off x="8243621" y="2532888"/>
            <a:ext cx="3381146" cy="192024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6" name="Text 18"/>
          <p:cNvSpPr/>
          <p:nvPr/>
        </p:nvSpPr>
        <p:spPr>
          <a:xfrm>
            <a:off x="8517941" y="2697480"/>
            <a:ext cx="28325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AA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737" name="Text 19"/>
          <p:cNvSpPr/>
          <p:nvPr/>
        </p:nvSpPr>
        <p:spPr>
          <a:xfrm>
            <a:off x="8517941" y="2990088"/>
            <a:ext cx="2832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確認すること</a:t>
            </a:r>
            <a:endParaRPr lang="en-US" sz="1500" dirty="0"/>
          </a:p>
        </p:txBody>
      </p:sp>
      <p:sp>
        <p:nvSpPr>
          <p:cNvPr id="738" name="Text 20"/>
          <p:cNvSpPr/>
          <p:nvPr/>
        </p:nvSpPr>
        <p:spPr>
          <a:xfrm>
            <a:off x="8517941" y="3401568"/>
            <a:ext cx="2832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[具体的な行動]</a:t>
            </a:r>
            <a:endParaRPr lang="en-US" sz="1200" dirty="0"/>
          </a:p>
        </p:txBody>
      </p:sp>
      <p:sp>
        <p:nvSpPr>
          <p:cNvPr id="739" name="Text 21"/>
          <p:cNvSpPr/>
          <p:nvPr/>
        </p:nvSpPr>
        <p:spPr>
          <a:xfrm>
            <a:off x="8517941" y="3767328"/>
            <a:ext cx="2832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[担当] ／ [期限]</a:t>
            </a:r>
            <a:endParaRPr lang="en-US" sz="1100" dirty="0"/>
          </a:p>
        </p:txBody>
      </p:sp>
      <p:sp>
        <p:nvSpPr>
          <p:cNvPr id="740" name="Text 22"/>
          <p:cNvSpPr/>
          <p:nvPr/>
        </p:nvSpPr>
        <p:spPr>
          <a:xfrm>
            <a:off x="566928" y="463600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[問い合わせ先・次回開催日]</a:t>
            </a:r>
            <a:endParaRPr lang="en-US" sz="1100" dirty="0"/>
          </a:p>
        </p:txBody>
      </p:sp>
      <p:sp>
        <p:nvSpPr>
          <p:cNvPr id="741" name="Shape 23"/>
          <p:cNvSpPr/>
          <p:nvPr/>
        </p:nvSpPr>
        <p:spPr>
          <a:xfrm>
            <a:off x="566928" y="5358384"/>
            <a:ext cx="11057839" cy="475488"/>
          </a:xfrm>
          <a:prstGeom prst="rect">
            <a:avLst/>
          </a:prstGeom>
          <a:solidFill>
            <a:srgbClr val="FBEDE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2" name="Text 24"/>
          <p:cNvSpPr/>
          <p:nvPr/>
        </p:nvSpPr>
        <p:spPr>
          <a:xfrm>
            <a:off x="768096" y="5413248"/>
            <a:ext cx="10655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[結論。だから次に何を決めるかを書く]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7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Shape 0"/>
          <p:cNvSpPr/>
          <p:nvPr/>
        </p:nvSpPr>
        <p:spPr>
          <a:xfrm>
            <a:off x="566928" y="457200"/>
            <a:ext cx="64008" cy="384048"/>
          </a:xfrm>
          <a:prstGeom prst="rect">
            <a:avLst/>
          </a:prstGeom>
          <a:solidFill>
            <a:srgbClr val="E07A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5" name="Text 1"/>
          <p:cNvSpPr/>
          <p:nvPr/>
        </p:nvSpPr>
        <p:spPr>
          <a:xfrm>
            <a:off x="768096" y="384048"/>
            <a:ext cx="108566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[タイトル]</a:t>
            </a:r>
            <a:endParaRPr lang="en-US" sz="3000" dirty="0"/>
          </a:p>
        </p:txBody>
      </p:sp>
      <p:sp>
        <p:nvSpPr>
          <p:cNvPr id="746" name="Text 2"/>
          <p:cNvSpPr/>
          <p:nvPr/>
        </p:nvSpPr>
        <p:spPr>
          <a:xfrm>
            <a:off x="768096" y="987552"/>
            <a:ext cx="108566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[前提・定義・参照情報をまとめる]</a:t>
            </a:r>
            <a:endParaRPr lang="en-US" sz="1300" dirty="0"/>
          </a:p>
        </p:txBody>
      </p:sp>
      <p:sp>
        <p:nvSpPr>
          <p:cNvPr id="747" name="Text 3"/>
          <p:cNvSpPr/>
          <p:nvPr/>
        </p:nvSpPr>
        <p:spPr>
          <a:xfrm>
            <a:off x="566928" y="63459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  ｜  base  ｜  付録</a:t>
            </a:r>
            <a:endParaRPr lang="en-US" sz="900" dirty="0"/>
          </a:p>
        </p:txBody>
      </p:sp>
      <p:sp>
        <p:nvSpPr>
          <p:cNvPr id="748" name="Text 4"/>
          <p:cNvSpPr/>
          <p:nvPr/>
        </p:nvSpPr>
        <p:spPr>
          <a:xfrm>
            <a:off x="10524744" y="6345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</a:t>
            </a:r>
            <a:endParaRPr lang="en-US" sz="900" dirty="0"/>
          </a:p>
        </p:txBody>
      </p:sp>
      <p:sp>
        <p:nvSpPr>
          <p:cNvPr id="749" name="Shape 5"/>
          <p:cNvSpPr/>
          <p:nvPr/>
        </p:nvSpPr>
        <p:spPr>
          <a:xfrm>
            <a:off x="566928" y="1481328"/>
            <a:ext cx="5277460" cy="310896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0" name="Text 6"/>
          <p:cNvSpPr/>
          <p:nvPr/>
        </p:nvSpPr>
        <p:spPr>
          <a:xfrm>
            <a:off x="859536" y="1682496"/>
            <a:ext cx="46922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詳細・前提</a:t>
            </a:r>
            <a:endParaRPr lang="en-US" sz="1400" dirty="0"/>
          </a:p>
        </p:txBody>
      </p:sp>
      <p:sp>
        <p:nvSpPr>
          <p:cNvPr id="751" name="Text 7"/>
          <p:cNvSpPr/>
          <p:nvPr/>
        </p:nvSpPr>
        <p:spPr>
          <a:xfrm>
            <a:off x="859536" y="2139696"/>
            <a:ext cx="46922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[定義]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[前提条件]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[計算方法]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[補足説明]</a:t>
            </a:r>
            <a:endParaRPr lang="en-US" sz="1200" dirty="0"/>
          </a:p>
        </p:txBody>
      </p:sp>
      <p:sp>
        <p:nvSpPr>
          <p:cNvPr id="752" name="Shape 8"/>
          <p:cNvSpPr/>
          <p:nvPr/>
        </p:nvSpPr>
        <p:spPr>
          <a:xfrm>
            <a:off x="6347308" y="1481328"/>
            <a:ext cx="5277460" cy="3108960"/>
          </a:xfrm>
          <a:prstGeom prst="rect">
            <a:avLst/>
          </a:prstGeom>
          <a:solidFill>
            <a:srgbClr val="ED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3" name="Text 9"/>
          <p:cNvSpPr/>
          <p:nvPr/>
        </p:nvSpPr>
        <p:spPr>
          <a:xfrm>
            <a:off x="6639916" y="1682496"/>
            <a:ext cx="46922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参照情報</a:t>
            </a:r>
            <a:endParaRPr lang="en-US" sz="1400" dirty="0"/>
          </a:p>
        </p:txBody>
      </p:sp>
      <p:sp>
        <p:nvSpPr>
          <p:cNvPr id="754" name="Text 10"/>
          <p:cNvSpPr/>
          <p:nvPr/>
        </p:nvSpPr>
        <p:spPr>
          <a:xfrm>
            <a:off x="6639916" y="2139696"/>
            <a:ext cx="46922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[資料名・日付・版]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[データ出所・期間]</a:t>
            </a:r>
            <a:endParaRPr lang="en-US" sz="1200" dirty="0"/>
          </a:p>
          <a:p>
            <a:pPr marL="342900" indent="-342900">
              <a:lnSpc>
                <a:spcPts val="174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A6B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[確認者・確認日]</a:t>
            </a:r>
            <a:endParaRPr lang="en-US" sz="1200" dirty="0"/>
          </a:p>
        </p:txBody>
      </p:sp>
      <p:sp>
        <p:nvSpPr>
          <p:cNvPr id="755" name="Text 11"/>
          <p:cNvSpPr/>
          <p:nvPr/>
        </p:nvSpPr>
        <p:spPr>
          <a:xfrm>
            <a:off x="566928" y="607161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[出所／対象期間／母数 n=／基準日]。無い場合は ※要確認 と明記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Core30 レイアウトテンプレート</dc:title>
  <dc:subject>PptxGenJS Presentation</dc:subject>
  <dc:creator>ppt-layout-design skill</dc:creator>
  <cp:lastModifiedBy>ppt-layout-design skill</cp:lastModifiedBy>
  <cp:revision>1</cp:revision>
  <dcterms:created xsi:type="dcterms:W3CDTF">2026-07-26T08:07:27Z</dcterms:created>
  <dcterms:modified xsi:type="dcterms:W3CDTF">2026-07-26T08:07:27Z</dcterms:modified>
</cp:coreProperties>
</file>